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Lift</c:v>
                </c:pt>
              </c:strCache>
            </c:strRef>
          </c:tx>
          <c:spPr>
            <a:solidFill>
              <a:srgbClr val="2F6B42"/>
            </a:solidFill>
            <a:effectLst/>
          </c:spPr>
          <c:invertIfNegative val="0"/>
          <c:dLbls>
            <c:numFmt formatCode="0.00" sourceLinked="0"/>
            <c:txPr>
              <a:bodyPr/>
              <a:lstStyle/>
              <a:p>
                <a:pPr>
                  <a:defRPr b="0" i="0" strike="noStrike" sz="1200" u="none">
                    <a:solidFill>
                      <a:srgbClr val="1C2B22"/>
                    </a:solidFill>
                    <a:latin typeface="+mn-lt"/>
                  </a:defRPr>
                </a:pPr>
              </a:p>
            </c:txPr>
            <c:showLegendKey val="0"/>
            <c:showVal val="1"/>
            <c:showCatName val="0"/>
            <c:showSerName val="0"/>
            <c:showPercent val="0"/>
            <c:showBubbleSize val="0"/>
            <c:showLeaderLines val="0"/>
          </c:dLbls>
          <c:cat>
            <c:multiLvlStrRef>
              <c:f>Sheet1!$A$2:$A$7</c:f>
              <c:multiLvlStrCache>
                <c:ptCount val="6"/>
                <c:lvl>
                  <c:pt idx="0">
                    <c:v>fresh herbs + fresh vegetables</c:v>
                  </c:pt>
                  <c:pt idx="1">
                    <c:v>pasta sauce + packaged cheese</c:v>
                  </c:pt>
                  <c:pt idx="2">
                    <c:v>lunch meat + bread</c:v>
                  </c:pt>
                  <c:pt idx="3">
                    <c:v>cookies cakes + chips pretzels</c:v>
                  </c:pt>
                  <c:pt idx="4">
                    <c:v>fresh dips + chips pretzels</c:v>
                  </c:pt>
                  <c:pt idx="5">
                    <c:v>pasta sauce + dry pasta</c:v>
                  </c:pt>
                </c:lvl>
              </c:multiLvlStrCache>
            </c:multiLvlStrRef>
          </c:cat>
          <c:val>
            <c:numRef>
              <c:f>Sheet1!$B$2:$B$7</c:f>
              <c:numCache>
                <c:formatCode>General</c:formatCode>
                <c:ptCount val="6"/>
                <c:pt idx="0">
                  <c:v>1.8</c:v>
                </c:pt>
                <c:pt idx="1">
                  <c:v>1.85</c:v>
                </c:pt>
                <c:pt idx="2">
                  <c:v>1.88</c:v>
                </c:pt>
                <c:pt idx="3">
                  <c:v>1.94</c:v>
                </c:pt>
                <c:pt idx="4">
                  <c:v>2.02</c:v>
                </c:pt>
                <c:pt idx="5">
                  <c:v>4.03</c:v>
                </c:pt>
              </c:numCache>
            </c:numRef>
          </c:val>
        </c:ser>
        <c:dLbls>
          <c:numFmt formatCode="0.00" sourceLinked="0"/>
          <c:txPr>
            <a:bodyPr/>
            <a:lstStyle/>
            <a:p>
              <a:pPr>
                <a:defRPr b="0" i="0" strike="noStrike" sz="1200" u="none">
                  <a:solidFill>
                    <a:srgbClr val="1C2B22"/>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C2B22"/>
                </a:solidFill>
                <a:latin typeface="+mn-lt"/>
              </a:defRPr>
            </a:pPr>
            <a:endParaRPr lang="en-US"/>
          </a:p>
        </c:txPr>
        <c:crossAx val="2094734552"/>
        <c:crosses val="autoZero"/>
        <c:auto val="1"/>
        <c:lblAlgn val="ctr"/>
        <c:noMultiLvlLbl val="1"/>
      </c:catAx>
      <c:valAx>
        <c:axId val="2094734552"/>
        <c:scaling>
          <c:orientation val="minMax"/>
          <c:max val="4.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B22"/>
                </a:solidFill>
                <a:latin typeface="+mn-lt"/>
              </a:defRPr>
            </a:pPr>
            <a:r>
              <a:rPr sz="1400" b="0" i="0" u="none" strike="noStrike">
                <a:solidFill>
                  <a:srgbClr val="1C2B22"/>
                </a:solidFill>
                <a:latin typeface="+mn-lt"/>
              </a:rPr>
              <a:t>Hit@5 (%) ở mức sản phẩm, 20.000 giỏ kiểm tra</a:t>
            </a:r>
          </a:p>
        </c:rich>
      </c:tx>
      <c:layout/>
      <c:overlay val="0"/>
    </c:title>
    <c:autoTitleDeleted val="0"/>
    <c:plotArea>
      <c:layout/>
      <c:lineChart>
        <c:varyColors val="0"/>
        <c:ser>
          <c:idx val="0"/>
          <c:order val="0"/>
          <c:tx>
            <c:strRef>
              <c:f>Sheet1!$B$1</c:f>
              <c:strCache>
                <c:ptCount val="1"/>
                <c:pt idx="0">
                  <c:v>Chỉ luật kết hợp</c:v>
                </c:pt>
              </c:strCache>
            </c:strRef>
          </c:tx>
          <c:spPr>
            <a:solidFill>
              <a:srgbClr val="2F6B42"/>
            </a:solidFill>
            <a:ln w="38100" cap="flat">
              <a:solidFill>
                <a:srgbClr val="2F6B4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F6B42"/>
              </a:solidFill>
              <a:ln w="9525" cap="flat">
                <a:solidFill>
                  <a:srgbClr val="2F6B42"/>
                </a:solidFill>
                <a:prstDash val="solid"/>
                <a:round/>
              </a:ln>
              <a:effectLst/>
            </c:spPr>
          </c:marker>
          <c:cat>
            <c:multiLvlStrRef>
              <c:f>Sheet1!$A$2:$A$4</c:f>
              <c:multiLvlStrCache>
                <c:ptCount val="3"/>
                <c:lvl>
                  <c:pt idx="0">
                    <c:v>Support 1%</c:v>
                  </c:pt>
                  <c:pt idx="1">
                    <c:v>Support 0,5%</c:v>
                  </c:pt>
                  <c:pt idx="2">
                    <c:v>Support 0,2%</c:v>
                  </c:pt>
                </c:lvl>
              </c:multiLvlStrCache>
            </c:multiLvlStrRef>
          </c:cat>
          <c:val>
            <c:numRef>
              <c:f>Sheet1!$B$2:$B$4</c:f>
              <c:numCache>
                <c:formatCode>General</c:formatCode>
                <c:ptCount val="3"/>
                <c:pt idx="0">
                  <c:v>2.41</c:v>
                </c:pt>
                <c:pt idx="1">
                  <c:v>3.58</c:v>
                </c:pt>
                <c:pt idx="2">
                  <c:v>5.08</c:v>
                </c:pt>
              </c:numCache>
            </c:numRef>
          </c:val>
          <c:smooth val="0"/>
        </c:ser>
        <c:ser>
          <c:idx val="1"/>
          <c:order val="1"/>
          <c:tx>
            <c:strRef>
              <c:f>Sheet1!$C$1</c:f>
              <c:strCache>
                <c:ptCount val="1"/>
                <c:pt idx="0">
                  <c:v>Chỉ món bán chạy</c:v>
                </c:pt>
              </c:strCache>
            </c:strRef>
          </c:tx>
          <c:spPr>
            <a:solidFill>
              <a:srgbClr val="8A948C"/>
            </a:solidFill>
            <a:ln w="38100" cap="flat">
              <a:solidFill>
                <a:srgbClr val="8A94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8A948C"/>
              </a:solidFill>
              <a:ln w="9525" cap="flat">
                <a:solidFill>
                  <a:srgbClr val="8A948C"/>
                </a:solidFill>
                <a:prstDash val="solid"/>
                <a:round/>
              </a:ln>
              <a:effectLst/>
            </c:spPr>
          </c:marker>
          <c:cat>
            <c:multiLvlStrRef>
              <c:f>Sheet1!$A$2:$A$4</c:f>
              <c:multiLvlStrCache>
                <c:ptCount val="3"/>
                <c:lvl>
                  <c:pt idx="0">
                    <c:v>Support 1%</c:v>
                  </c:pt>
                  <c:pt idx="1">
                    <c:v>Support 0,5%</c:v>
                  </c:pt>
                  <c:pt idx="2">
                    <c:v>Support 0,2%</c:v>
                  </c:pt>
                </c:lvl>
              </c:multiLvlStrCache>
            </c:multiLvlStrRef>
          </c:cat>
          <c:val>
            <c:numRef>
              <c:f>Sheet1!$C$2:$C$4</c:f>
              <c:numCache>
                <c:formatCode>General</c:formatCode>
                <c:ptCount val="3"/>
                <c:pt idx="0">
                  <c:v>5.49</c:v>
                </c:pt>
                <c:pt idx="1">
                  <c:v>5.49</c:v>
                </c:pt>
                <c:pt idx="2">
                  <c:v>5.49</c:v>
                </c:pt>
              </c:numCache>
            </c:numRef>
          </c:val>
          <c:smooth val="0"/>
        </c:ser>
        <c:ser>
          <c:idx val="2"/>
          <c:order val="2"/>
          <c:tx>
            <c:strRef>
              <c:f>Sheet1!$D$1</c:f>
              <c:strCache>
                <c:ptCount val="1"/>
                <c:pt idx="0">
                  <c:v>Luật + dự phòng bán chạy</c:v>
                </c:pt>
              </c:strCache>
            </c:strRef>
          </c:tx>
          <c:spPr>
            <a:solidFill>
              <a:srgbClr val="E2711D"/>
            </a:solidFill>
            <a:ln w="38100" cap="flat">
              <a:solidFill>
                <a:srgbClr val="E2711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E2711D"/>
              </a:solidFill>
              <a:ln w="9525" cap="flat">
                <a:solidFill>
                  <a:srgbClr val="E2711D"/>
                </a:solidFill>
                <a:prstDash val="solid"/>
                <a:round/>
              </a:ln>
              <a:effectLst/>
            </c:spPr>
          </c:marker>
          <c:cat>
            <c:multiLvlStrRef>
              <c:f>Sheet1!$A$2:$A$4</c:f>
              <c:multiLvlStrCache>
                <c:ptCount val="3"/>
                <c:lvl>
                  <c:pt idx="0">
                    <c:v>Support 1%</c:v>
                  </c:pt>
                  <c:pt idx="1">
                    <c:v>Support 0,5%</c:v>
                  </c:pt>
                  <c:pt idx="2">
                    <c:v>Support 0,2%</c:v>
                  </c:pt>
                </c:lvl>
              </c:multiLvlStrCache>
            </c:multiLvlStrRef>
          </c:cat>
          <c:val>
            <c:numRef>
              <c:f>Sheet1!$D$2:$D$4</c:f>
              <c:numCache>
                <c:formatCode>General</c:formatCode>
                <c:ptCount val="3"/>
                <c:pt idx="0">
                  <c:v>5.51</c:v>
                </c:pt>
                <c:pt idx="1">
                  <c:v>5.66</c:v>
                </c:pt>
                <c:pt idx="2">
                  <c:v>6.17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B22"/>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9525" cap="flat">
              <a:solidFill>
                <a:srgbClr val="E6E9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64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C2B2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và nhóm. Nhãn bên phải là một gợi ý thật do hệ thống tạo ra: khách đã có dâu tây hữu cơ thì nên gợi ý chuối hữu cơ, vì khả năng mua cao gấp 2,02 lần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khách đang có giỏ hàng, hệ thống nên gợi ý món gì. Bốn mục tiêu: tự cài đặt FP-Growth, khai phá luật, xây hệ thống gợi ý, và đánh giá gợi ý trên đơn hàng thật kèm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Phát hiện quan trọng nhất của EDA: hiện tượng đuôi dài. Vài sản phẩm như chuối có mặt trong 15% số đơn, còn hơn 99% sản phẩm có support dưới 0,5%. Điều này giải thích vì sao chọn FP-Growth và vì sao luật chỉ phủ được nhóm sản phẩm phổ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tiền xử lý. Ba con số cần nhớ: loại 4,88% đơn chỉ có một món vì không sinh được luật; lấy mẫu lồng nhau để quy mô là biến thay đổi duy nhất; mẫu 100k có tương quan support 0,9997 với tổng thể, tức đại diện rất tốt. Ở mức kệ hàng còn 98.491 giỏ sau khi gom theo kệ.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FP-Growth nén giao dịch vào cây tiền tố: ví dụ 5 giỏ hàng nén còn 7 nút. Thuật toán chỉ quét dữ liệu hai lần và không sinh tập ứng viên, trong khi Apriori ở ngưỡng 0,5% phải sinh hơn 35 nghìn cặp ứng viên. Hai thuật toán cho cùng kết quả nên chọn FP-Growth không làm mất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chắc bản tự cài đặt đúng, nhóm chạy song song với hàm fpgrowth của mlxtend trên 4 cấu hình, kể cả cấu hình đệ quy sâu với tập dài 5 món. Kết quả trùng khớp hoàn toàn. Quá trình này còn phát hiện lỗi làm tròn ngưỡng: ví dụ 5 giao dịch, minsup 30% thì cần ít nhất 2 giao dịch, nhưng bản cũ lấy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Cách gợi ý gồm 4 bước. Điểm lift nhân confidence ưu tiên luật vừa có xác suất mua kèm cao, vừa thể hiện liên hệ thật chứ không chỉ do món vốn phổ biến. Vì luật chỉ phủ nhóm món phổ biến, nhiều giỏ không khớp luật nào; khi đó hệ thống bù bằng món bán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mức sản phẩm, các cặp có lift cao nhất hầu hết là các vị của cùng một dòng: sữa chua skyr, sữa chua Hy Lạp Total 2%, ớt chuông vàng và cam. Lift tới 73 nghĩa là khách mua vị này thì khả năng mua vị kia cao gấp 73 lần. Ở mức kệ hàng, luật dễ hiểu hơn: sốt mì ý đi với mì khô, thịt nguội đi với bánh mì.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chính. Mỗi giỏ kiểm tra bị giấu một món, hệ thống phải đoán ra món đó trong 5 gợi ý. Chỉ dùng luật thì kém mốc bán chạy vì nhiều giỏ không có luật nào. Nhưng khi có luật, luật chính xác hơn, nên kết hợp luật với dự phòng bán chạy vượt mốc: 6,17% so với 5,49%, tăng khoảng 12%. Nếu bị hỏi: ví dụ Soda có trong 1% số đơn nhưng các cặp chứa Soda đều quá hiếm nên không có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dashboard chạy thật. Nếu máy chiếu hoặc máy tính gặp sự cố, dùng ảnh chụp trên slide này. Kịch bản: chọn nhanh Organic Strawberries, sau đó bấm lấy một đơn thật và giấu một món, cuối cùng mở tab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thuật toán tự cài đặt đúng, luật tìm ra các nhóm sản phẩm gắn kết, và hệ thống gợi ý kết hợp vượt mốc món bán chạy. Hạn chế chính là độ phủ của luật thấp do đuôi dài. Hướng phát triển: tăng tốc để chạy toàn bộ dữ liệu và gom các biến thể sản phẩm. Cảm ơn thầy cô và các bạn đã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F6B4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429000"/>
            <a:ext cx="676656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2F6B4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686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5645A"/>
                </a:solidFill>
              </a:rPr>
              <a:t>Gợi ý mua kèm bằng FP-Growth – Instacart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949440" cy="182880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Gợi ý sản phẩm mua kèm bằng FP-Growth</a:t>
            </a:r>
            <a:endParaRPr lang="en-US" sz="4000" dirty="0"/>
          </a:p>
        </p:txBody>
      </p:sp>
      <p:sp>
        <p:nvSpPr>
          <p:cNvPr id="3" name="Text 0"/>
          <p:cNvSpPr/>
          <p:nvPr>
            <p:ph idx="101" type="body" hasCustomPrompt="1"/>
          </p:nvPr>
        </p:nvSpPr>
        <p:spPr>
          <a:xfrm>
            <a:off x="731520" y="3429000"/>
            <a:ext cx="6766560" cy="822960"/>
          </a:xfrm>
          <a:prstGeom prst="rect">
            <a:avLst/>
          </a:prstGeom>
          <a:noFill/>
          <a:ln/>
        </p:spPr>
        <p:txBody>
          <a:bodyPr wrap="square" lIns="0" tIns="0" rIns="0" bIns="0" rtlCol="0" anchor="t"/>
          <a:lstStyle/>
          <a:p>
            <a:pPr indent="0" marL="0">
              <a:buNone/>
            </a:pPr>
            <a:r>
              <a:rPr lang="en-US" sz="2000" dirty="0">
                <a:solidFill>
                  <a:schemeClr val="bg2"/>
                </a:solidFill>
              </a:rPr>
              <a:t>Khai phá luật kết hợp trên 3,2 triệu đơn hàng Instacart</a:t>
            </a:r>
            <a:endParaRPr lang="en-US" sz="2000" dirty="0"/>
          </a:p>
        </p:txBody>
      </p:sp>
      <p:sp>
        <p:nvSpPr>
          <p:cNvPr id="4" name="Text 2"/>
          <p:cNvSpPr txBox="1"/>
          <p:nvPr/>
        </p:nvSpPr>
        <p:spPr>
          <a:xfrm>
            <a:off x="731520" y="5074920"/>
            <a:ext cx="6400800" cy="32004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Môn Khai phá dữ liệu</a:t>
            </a:r>
            <a:endParaRPr lang="en-US" sz="1600" dirty="0"/>
          </a:p>
        </p:txBody>
      </p:sp>
      <p:sp>
        <p:nvSpPr>
          <p:cNvPr id="5" name="Text 3"/>
          <p:cNvSpPr txBox="1"/>
          <p:nvPr/>
        </p:nvSpPr>
        <p:spPr>
          <a:xfrm>
            <a:off x="731520" y="5440680"/>
            <a:ext cx="731520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Hoàng Văn Dũng  ·  Nguyễn Văn Hiệp  ·  Vũ Hải An  ·  Phạm Tiến Mạnh</a:t>
            </a:r>
            <a:endParaRPr lang="en-US" sz="1400" dirty="0"/>
          </a:p>
        </p:txBody>
      </p:sp>
      <p:sp>
        <p:nvSpPr>
          <p:cNvPr id="6" name="cover-tag"/>
          <p:cNvSpPr/>
          <p:nvPr/>
        </p:nvSpPr>
        <p:spPr>
          <a:xfrm>
            <a:off x="8138160" y="2011680"/>
            <a:ext cx="3383280" cy="2377440"/>
          </a:xfrm>
          <a:prstGeom prst="roundRect">
            <a:avLst>
              <a:gd name="adj" fmla="val 2308"/>
            </a:avLst>
          </a:prstGeom>
          <a:solidFill>
            <a:srgbClr val="FFFFFF"/>
          </a:solidFill>
          <a:ln w="19050">
            <a:solidFill>
              <a:srgbClr val="FFFFFF"/>
            </a:solidFill>
            <a:prstDash val="solid"/>
          </a:ln>
        </p:spPr>
      </p:sp>
      <p:sp>
        <p:nvSpPr>
          <p:cNvPr id="7" name="cover-tag-hole"/>
          <p:cNvSpPr/>
          <p:nvPr/>
        </p:nvSpPr>
        <p:spPr>
          <a:xfrm>
            <a:off x="8055864" y="3118104"/>
            <a:ext cx="164592" cy="164592"/>
          </a:xfrm>
          <a:prstGeom prst="ellipse">
            <a:avLst/>
          </a:prstGeom>
          <a:solidFill>
            <a:srgbClr val="2F6B42"/>
          </a:solidFill>
          <a:ln w="19050">
            <a:solidFill>
              <a:srgbClr val="FFFFFF"/>
            </a:solidFill>
            <a:prstDash val="solid"/>
          </a:ln>
        </p:spPr>
      </p:sp>
      <p:sp>
        <p:nvSpPr>
          <p:cNvPr id="8" name="Text 6"/>
          <p:cNvSpPr txBox="1"/>
          <p:nvPr/>
        </p:nvSpPr>
        <p:spPr>
          <a:xfrm>
            <a:off x="8412480" y="2240280"/>
            <a:ext cx="2926080" cy="320040"/>
          </a:xfrm>
          <a:prstGeom prst="rect">
            <a:avLst/>
          </a:prstGeom>
          <a:noFill/>
          <a:ln/>
        </p:spPr>
        <p:txBody>
          <a:bodyPr wrap="square" lIns="0" tIns="0" rIns="0" bIns="0" rtlCol="0" anchor="t"/>
          <a:lstStyle/>
          <a:p>
            <a:pPr indent="0" marL="0">
              <a:buNone/>
            </a:pPr>
            <a:r>
              <a:rPr lang="en-US" sz="1300" dirty="0">
                <a:solidFill>
                  <a:srgbClr val="55645A"/>
                </a:solidFill>
                <a:latin typeface="Calibri" pitchFamily="34" charset="0"/>
                <a:ea typeface="Calibri" pitchFamily="34" charset="-122"/>
                <a:cs typeface="Calibri" pitchFamily="34" charset="-120"/>
              </a:rPr>
              <a:t>Khách có Organic Strawberries</a:t>
            </a:r>
            <a:endParaRPr lang="en-US" sz="1300" dirty="0"/>
          </a:p>
        </p:txBody>
      </p:sp>
      <p:sp>
        <p:nvSpPr>
          <p:cNvPr id="9" name="Text 7"/>
          <p:cNvSpPr txBox="1"/>
          <p:nvPr/>
        </p:nvSpPr>
        <p:spPr>
          <a:xfrm>
            <a:off x="8412480" y="2560320"/>
            <a:ext cx="2926080" cy="68580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Gợi ý: Bag of Organic Bananas</a:t>
            </a:r>
            <a:endParaRPr lang="en-US" sz="1800" dirty="0"/>
          </a:p>
        </p:txBody>
      </p:sp>
      <p:sp>
        <p:nvSpPr>
          <p:cNvPr id="10" name="Text 8"/>
          <p:cNvSpPr txBox="1"/>
          <p:nvPr/>
        </p:nvSpPr>
        <p:spPr>
          <a:xfrm>
            <a:off x="8412480" y="3291840"/>
            <a:ext cx="292608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×2,02</a:t>
            </a:r>
            <a:endParaRPr lang="en-US" sz="4000" dirty="0"/>
          </a:p>
        </p:txBody>
      </p:sp>
      <p:sp>
        <p:nvSpPr>
          <p:cNvPr id="11" name="Text 9"/>
          <p:cNvSpPr txBox="1"/>
          <p:nvPr/>
        </p:nvSpPr>
        <p:spPr>
          <a:xfrm>
            <a:off x="8412480" y="3931920"/>
            <a:ext cx="2926080" cy="274320"/>
          </a:xfrm>
          <a:prstGeom prst="rect">
            <a:avLst/>
          </a:prstGeom>
          <a:noFill/>
          <a:ln/>
        </p:spPr>
        <p:txBody>
          <a:bodyPr wrap="square" lIns="0" tIns="0" rIns="0" bIns="0" rtlCol="0" anchor="t"/>
          <a:lstStyle/>
          <a:p>
            <a:pPr indent="0" marL="0">
              <a:buNone/>
            </a:pPr>
            <a:r>
              <a:rPr lang="en-US" sz="1200" dirty="0">
                <a:solidFill>
                  <a:srgbClr val="55645A"/>
                </a:solidFill>
                <a:latin typeface="Calibri" pitchFamily="34" charset="0"/>
                <a:ea typeface="Calibri" pitchFamily="34" charset="-122"/>
                <a:cs typeface="Calibri" pitchFamily="34" charset="-120"/>
              </a:rPr>
              <a:t>lift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Khách bỏ món này vào giỏ, nên gợi ý món gì?</a:t>
            </a:r>
            <a:endParaRPr lang="en-US" sz="3000" dirty="0"/>
          </a:p>
        </p:txBody>
      </p:sp>
      <p:sp>
        <p:nvSpPr>
          <p:cNvPr id="3" name="Text 1"/>
          <p:cNvSpPr txBox="1"/>
          <p:nvPr/>
        </p:nvSpPr>
        <p:spPr>
          <a:xfrm>
            <a:off x="548640" y="1417320"/>
            <a:ext cx="475488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Phân tích giỏ hàng tìm các luật dạng “nếu mua A thì nhiều khả năng mua B”, rồi dùng luật để gợi ý sản phẩm mua kèm cho giỏ hàng hiện tại.</a:t>
            </a:r>
            <a:endParaRPr lang="en-US" sz="1800" dirty="0"/>
          </a:p>
        </p:txBody>
      </p:sp>
      <p:sp>
        <p:nvSpPr>
          <p:cNvPr id="4" name="rule-tag"/>
          <p:cNvSpPr/>
          <p:nvPr/>
        </p:nvSpPr>
        <p:spPr>
          <a:xfrm>
            <a:off x="685800" y="2880360"/>
            <a:ext cx="4480560" cy="1874520"/>
          </a:xfrm>
          <a:prstGeom prst="roundRect">
            <a:avLst>
              <a:gd name="adj" fmla="val 2927"/>
            </a:avLst>
          </a:prstGeom>
          <a:solidFill>
            <a:srgbClr val="FFFFFF"/>
          </a:solidFill>
          <a:ln w="19050">
            <a:solidFill>
              <a:srgbClr val="1C2B22"/>
            </a:solidFill>
            <a:prstDash val="solid"/>
          </a:ln>
        </p:spPr>
      </p:sp>
      <p:sp>
        <p:nvSpPr>
          <p:cNvPr id="5" name="rule-tag-hole"/>
          <p:cNvSpPr/>
          <p:nvPr/>
        </p:nvSpPr>
        <p:spPr>
          <a:xfrm>
            <a:off x="603504" y="3735324"/>
            <a:ext cx="164592" cy="164592"/>
          </a:xfrm>
          <a:prstGeom prst="ellipse">
            <a:avLst/>
          </a:prstGeom>
          <a:solidFill>
            <a:srgbClr val="FFFFFF"/>
          </a:solidFill>
          <a:ln w="19050">
            <a:solidFill>
              <a:srgbClr val="1C2B22"/>
            </a:solidFill>
            <a:prstDash val="solid"/>
          </a:ln>
        </p:spPr>
      </p:sp>
      <p:sp>
        <p:nvSpPr>
          <p:cNvPr id="6" name="Text 4"/>
          <p:cNvSpPr txBox="1"/>
          <p:nvPr/>
        </p:nvSpPr>
        <p:spPr>
          <a:xfrm>
            <a:off x="960120" y="3063240"/>
            <a:ext cx="4023360" cy="274320"/>
          </a:xfrm>
          <a:prstGeom prst="rect">
            <a:avLst/>
          </a:prstGeom>
          <a:noFill/>
          <a:ln/>
        </p:spPr>
        <p:txBody>
          <a:bodyPr wrap="square" lIns="0" tIns="0" rIns="0" bIns="0" rtlCol="0" anchor="t"/>
          <a:lstStyle/>
          <a:p>
            <a:pPr indent="0" marL="0">
              <a:buNone/>
            </a:pPr>
            <a:r>
              <a:rPr lang="en-US" sz="1300" dirty="0">
                <a:solidFill>
                  <a:srgbClr val="55645A"/>
                </a:solidFill>
                <a:latin typeface="Calibri" pitchFamily="34" charset="0"/>
                <a:ea typeface="Calibri" pitchFamily="34" charset="-122"/>
                <a:cs typeface="Calibri" pitchFamily="34" charset="-120"/>
              </a:rPr>
              <a:t>Nếu mua</a:t>
            </a:r>
            <a:endParaRPr lang="en-US" sz="1300" dirty="0"/>
          </a:p>
        </p:txBody>
      </p:sp>
      <p:sp>
        <p:nvSpPr>
          <p:cNvPr id="7" name="Text 5"/>
          <p:cNvSpPr txBox="1"/>
          <p:nvPr/>
        </p:nvSpPr>
        <p:spPr>
          <a:xfrm>
            <a:off x="960120" y="3337560"/>
            <a:ext cx="40233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Organic Strawberries</a:t>
            </a:r>
            <a:endParaRPr lang="en-US" sz="2000" dirty="0"/>
          </a:p>
        </p:txBody>
      </p:sp>
      <p:sp>
        <p:nvSpPr>
          <p:cNvPr id="8" name="Text 6"/>
          <p:cNvSpPr txBox="1"/>
          <p:nvPr/>
        </p:nvSpPr>
        <p:spPr>
          <a:xfrm>
            <a:off x="960120" y="3794760"/>
            <a:ext cx="4023360" cy="274320"/>
          </a:xfrm>
          <a:prstGeom prst="rect">
            <a:avLst/>
          </a:prstGeom>
          <a:noFill/>
          <a:ln/>
        </p:spPr>
        <p:txBody>
          <a:bodyPr wrap="square" lIns="0" tIns="0" rIns="0" bIns="0" rtlCol="0" anchor="t"/>
          <a:lstStyle/>
          <a:p>
            <a:pPr indent="0" marL="0">
              <a:buNone/>
            </a:pPr>
            <a:r>
              <a:rPr lang="en-US" sz="1300" dirty="0">
                <a:solidFill>
                  <a:srgbClr val="55645A"/>
                </a:solidFill>
                <a:latin typeface="Calibri" pitchFamily="34" charset="0"/>
                <a:ea typeface="Calibri" pitchFamily="34" charset="-122"/>
                <a:cs typeface="Calibri" pitchFamily="34" charset="-120"/>
              </a:rPr>
              <a:t>thì 25,9% mua thêm</a:t>
            </a:r>
            <a:endParaRPr lang="en-US" sz="1300" dirty="0"/>
          </a:p>
        </p:txBody>
      </p:sp>
      <p:sp>
        <p:nvSpPr>
          <p:cNvPr id="9" name="Text 7"/>
          <p:cNvSpPr txBox="1"/>
          <p:nvPr/>
        </p:nvSpPr>
        <p:spPr>
          <a:xfrm>
            <a:off x="960120" y="4069080"/>
            <a:ext cx="402336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Bag of Organic Bananas</a:t>
            </a:r>
            <a:endParaRPr lang="en-US" sz="2000" dirty="0"/>
          </a:p>
        </p:txBody>
      </p:sp>
      <p:sp>
        <p:nvSpPr>
          <p:cNvPr id="10" name="goal"/>
          <p:cNvSpPr/>
          <p:nvPr/>
        </p:nvSpPr>
        <p:spPr>
          <a:xfrm>
            <a:off x="5852160" y="1463040"/>
            <a:ext cx="2697480" cy="1737360"/>
          </a:xfrm>
          <a:prstGeom prst="roundRect">
            <a:avLst>
              <a:gd name="adj" fmla="val 4211"/>
            </a:avLst>
          </a:prstGeom>
          <a:solidFill>
            <a:schemeClr val="bg2"/>
          </a:solidFill>
          <a:ln/>
        </p:spPr>
      </p:sp>
      <p:sp>
        <p:nvSpPr>
          <p:cNvPr id="11" name="Text 9"/>
          <p:cNvSpPr txBox="1"/>
          <p:nvPr/>
        </p:nvSpPr>
        <p:spPr>
          <a:xfrm>
            <a:off x="6080760" y="1691640"/>
            <a:ext cx="2286000" cy="5943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Tự cài đặt FP-Growth</a:t>
            </a:r>
            <a:endParaRPr lang="en-US" sz="1700" dirty="0"/>
          </a:p>
        </p:txBody>
      </p:sp>
      <p:sp>
        <p:nvSpPr>
          <p:cNvPr id="12" name="Text 10"/>
          <p:cNvSpPr txBox="1"/>
          <p:nvPr/>
        </p:nvSpPr>
        <p:spPr>
          <a:xfrm>
            <a:off x="6080760" y="2331720"/>
            <a:ext cx="22860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Viết bằng Python, kiểm chứng với thư viện mlxtend</a:t>
            </a:r>
            <a:endParaRPr lang="en-US" sz="1400" dirty="0"/>
          </a:p>
        </p:txBody>
      </p:sp>
      <p:sp>
        <p:nvSpPr>
          <p:cNvPr id="13" name="goal"/>
          <p:cNvSpPr/>
          <p:nvPr/>
        </p:nvSpPr>
        <p:spPr>
          <a:xfrm>
            <a:off x="8778240" y="1463040"/>
            <a:ext cx="2697480" cy="1737360"/>
          </a:xfrm>
          <a:prstGeom prst="roundRect">
            <a:avLst>
              <a:gd name="adj" fmla="val 4211"/>
            </a:avLst>
          </a:prstGeom>
          <a:solidFill>
            <a:schemeClr val="bg2"/>
          </a:solidFill>
          <a:ln/>
        </p:spPr>
      </p:sp>
      <p:sp>
        <p:nvSpPr>
          <p:cNvPr id="14" name="Text 12"/>
          <p:cNvSpPr txBox="1"/>
          <p:nvPr/>
        </p:nvSpPr>
        <p:spPr>
          <a:xfrm>
            <a:off x="9006840" y="1691640"/>
            <a:ext cx="2286000" cy="5943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Khai phá luật kết hợp</a:t>
            </a:r>
            <a:endParaRPr lang="en-US" sz="1700" dirty="0"/>
          </a:p>
        </p:txBody>
      </p:sp>
      <p:sp>
        <p:nvSpPr>
          <p:cNvPr id="15" name="Text 13"/>
          <p:cNvSpPr txBox="1"/>
          <p:nvPr/>
        </p:nvSpPr>
        <p:spPr>
          <a:xfrm>
            <a:off x="9006840" y="2331720"/>
            <a:ext cx="22860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Ở mức sản phẩm và mức kệ hàng</a:t>
            </a:r>
            <a:endParaRPr lang="en-US" sz="1400" dirty="0"/>
          </a:p>
        </p:txBody>
      </p:sp>
      <p:sp>
        <p:nvSpPr>
          <p:cNvPr id="16" name="goal"/>
          <p:cNvSpPr/>
          <p:nvPr/>
        </p:nvSpPr>
        <p:spPr>
          <a:xfrm>
            <a:off x="5852160" y="3429000"/>
            <a:ext cx="2697480" cy="1737360"/>
          </a:xfrm>
          <a:prstGeom prst="roundRect">
            <a:avLst>
              <a:gd name="adj" fmla="val 4211"/>
            </a:avLst>
          </a:prstGeom>
          <a:solidFill>
            <a:schemeClr val="bg2"/>
          </a:solidFill>
          <a:ln/>
        </p:spPr>
      </p:sp>
      <p:sp>
        <p:nvSpPr>
          <p:cNvPr id="17" name="Text 15"/>
          <p:cNvSpPr txBox="1"/>
          <p:nvPr/>
        </p:nvSpPr>
        <p:spPr>
          <a:xfrm>
            <a:off x="6080760" y="3657600"/>
            <a:ext cx="2286000" cy="5943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Gợi ý mua kèm</a:t>
            </a:r>
            <a:endParaRPr lang="en-US" sz="1700" dirty="0"/>
          </a:p>
        </p:txBody>
      </p:sp>
      <p:sp>
        <p:nvSpPr>
          <p:cNvPr id="18" name="Text 16"/>
          <p:cNvSpPr txBox="1"/>
          <p:nvPr/>
        </p:nvSpPr>
        <p:spPr>
          <a:xfrm>
            <a:off x="6080760" y="4297680"/>
            <a:ext cx="22860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Xếp hạng theo lift × confidence, kèm lời giải thích</a:t>
            </a:r>
            <a:endParaRPr lang="en-US" sz="1400" dirty="0"/>
          </a:p>
        </p:txBody>
      </p:sp>
      <p:sp>
        <p:nvSpPr>
          <p:cNvPr id="19" name="goal"/>
          <p:cNvSpPr/>
          <p:nvPr/>
        </p:nvSpPr>
        <p:spPr>
          <a:xfrm>
            <a:off x="8778240" y="3429000"/>
            <a:ext cx="2697480" cy="1737360"/>
          </a:xfrm>
          <a:prstGeom prst="roundRect">
            <a:avLst>
              <a:gd name="adj" fmla="val 4211"/>
            </a:avLst>
          </a:prstGeom>
          <a:solidFill>
            <a:schemeClr val="bg2"/>
          </a:solidFill>
          <a:ln/>
        </p:spPr>
      </p:sp>
      <p:sp>
        <p:nvSpPr>
          <p:cNvPr id="20" name="Text 18"/>
          <p:cNvSpPr txBox="1"/>
          <p:nvPr/>
        </p:nvSpPr>
        <p:spPr>
          <a:xfrm>
            <a:off x="9006840" y="3657600"/>
            <a:ext cx="2286000" cy="5943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Đánh giá và dashboard</a:t>
            </a:r>
            <a:endParaRPr lang="en-US" sz="1700" dirty="0"/>
          </a:p>
        </p:txBody>
      </p:sp>
      <p:sp>
        <p:nvSpPr>
          <p:cNvPr id="21" name="Text 19"/>
          <p:cNvSpPr txBox="1"/>
          <p:nvPr/>
        </p:nvSpPr>
        <p:spPr>
          <a:xfrm>
            <a:off x="9006840" y="4297680"/>
            <a:ext cx="22860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Đo độ chính xác trên đơn thật; trình bày bằng Streamlit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Hơn 99% sản phẩm rất hiếm khi được mua</a:t>
            </a:r>
            <a:endParaRPr lang="en-US" sz="3000" dirty="0"/>
          </a:p>
        </p:txBody>
      </p:sp>
      <p:pic>
        <p:nvPicPr>
          <p:cNvPr id="3" name="long-tail" descr="C:\Users\DELL\AppData\Local\Temp\claude\e--2026-Year-Ki-1-Nam-4-khaiPha-duLieu-apriori-vs-fpgrowth-instacart\f1a2eb5d-69cf-4f00-8c37-e240052e08b4\scratchpad\deck\img\long_tail.png">    </p:cNvPr>
          <p:cNvPicPr>
            <a:picLocks noChangeAspect="1"/>
          </p:cNvPicPr>
          <p:nvPr/>
        </p:nvPicPr>
        <p:blipFill>
          <a:blip r:embed="rId1"/>
          <a:stretch>
            <a:fillRect/>
          </a:stretch>
        </p:blipFill>
        <p:spPr>
          <a:xfrm>
            <a:off x="548640" y="1371600"/>
            <a:ext cx="7040880" cy="3931781"/>
          </a:xfrm>
          <a:prstGeom prst="rect">
            <a:avLst/>
          </a:prstGeom>
        </p:spPr>
      </p:pic>
      <p:sp>
        <p:nvSpPr>
          <p:cNvPr id="4" name="stat"/>
          <p:cNvSpPr/>
          <p:nvPr/>
        </p:nvSpPr>
        <p:spPr>
          <a:xfrm>
            <a:off x="8138160" y="1371600"/>
            <a:ext cx="3474720" cy="1188720"/>
          </a:xfrm>
          <a:prstGeom prst="roundRect">
            <a:avLst>
              <a:gd name="adj" fmla="val 4615"/>
            </a:avLst>
          </a:prstGeom>
          <a:solidFill>
            <a:srgbClr val="FFFFFF"/>
          </a:solidFill>
          <a:ln w="19050">
            <a:solidFill>
              <a:srgbClr val="1C2B22"/>
            </a:solidFill>
            <a:prstDash val="solid"/>
          </a:ln>
        </p:spPr>
      </p:sp>
      <p:sp>
        <p:nvSpPr>
          <p:cNvPr id="5" name="stat-hole"/>
          <p:cNvSpPr/>
          <p:nvPr/>
        </p:nvSpPr>
        <p:spPr>
          <a:xfrm>
            <a:off x="8055864" y="1883664"/>
            <a:ext cx="164592" cy="164592"/>
          </a:xfrm>
          <a:prstGeom prst="ellipse">
            <a:avLst/>
          </a:prstGeom>
          <a:solidFill>
            <a:srgbClr val="FFFFFF"/>
          </a:solidFill>
          <a:ln w="19050">
            <a:solidFill>
              <a:srgbClr val="1C2B22"/>
            </a:solidFill>
            <a:prstDash val="solid"/>
          </a:ln>
        </p:spPr>
      </p:sp>
      <p:sp>
        <p:nvSpPr>
          <p:cNvPr id="6" name="Text 3"/>
          <p:cNvSpPr txBox="1"/>
          <p:nvPr/>
        </p:nvSpPr>
        <p:spPr>
          <a:xfrm>
            <a:off x="8412480" y="1481328"/>
            <a:ext cx="3063240" cy="5029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99,4%</a:t>
            </a:r>
            <a:endParaRPr lang="en-US" sz="3600" dirty="0"/>
          </a:p>
        </p:txBody>
      </p:sp>
      <p:sp>
        <p:nvSpPr>
          <p:cNvPr id="7" name="Text 4"/>
          <p:cNvSpPr txBox="1"/>
          <p:nvPr/>
        </p:nvSpPr>
        <p:spPr>
          <a:xfrm>
            <a:off x="8412480" y="199339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sản phẩm có support dưới 0,5%</a:t>
            </a:r>
            <a:endParaRPr lang="en-US" sz="1400" dirty="0"/>
          </a:p>
        </p:txBody>
      </p:sp>
      <p:sp>
        <p:nvSpPr>
          <p:cNvPr id="8" name="stat"/>
          <p:cNvSpPr/>
          <p:nvPr/>
        </p:nvSpPr>
        <p:spPr>
          <a:xfrm>
            <a:off x="8138160" y="2743200"/>
            <a:ext cx="3474720" cy="1188720"/>
          </a:xfrm>
          <a:prstGeom prst="roundRect">
            <a:avLst>
              <a:gd name="adj" fmla="val 4615"/>
            </a:avLst>
          </a:prstGeom>
          <a:solidFill>
            <a:srgbClr val="FFFFFF"/>
          </a:solidFill>
          <a:ln w="19050">
            <a:solidFill>
              <a:srgbClr val="1C2B22"/>
            </a:solidFill>
            <a:prstDash val="solid"/>
          </a:ln>
        </p:spPr>
      </p:sp>
      <p:sp>
        <p:nvSpPr>
          <p:cNvPr id="9" name="stat-hole"/>
          <p:cNvSpPr/>
          <p:nvPr/>
        </p:nvSpPr>
        <p:spPr>
          <a:xfrm>
            <a:off x="8055864" y="3255264"/>
            <a:ext cx="164592" cy="164592"/>
          </a:xfrm>
          <a:prstGeom prst="ellipse">
            <a:avLst/>
          </a:prstGeom>
          <a:solidFill>
            <a:srgbClr val="FFFFFF"/>
          </a:solidFill>
          <a:ln w="19050">
            <a:solidFill>
              <a:srgbClr val="1C2B22"/>
            </a:solidFill>
            <a:prstDash val="solid"/>
          </a:ln>
        </p:spPr>
      </p:sp>
      <p:sp>
        <p:nvSpPr>
          <p:cNvPr id="10" name="Text 7"/>
          <p:cNvSpPr txBox="1"/>
          <p:nvPr/>
        </p:nvSpPr>
        <p:spPr>
          <a:xfrm>
            <a:off x="8412480" y="2852928"/>
            <a:ext cx="30632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15,4%</a:t>
            </a:r>
            <a:endParaRPr lang="en-US" sz="3000" dirty="0"/>
          </a:p>
        </p:txBody>
      </p:sp>
      <p:sp>
        <p:nvSpPr>
          <p:cNvPr id="11" name="Text 8"/>
          <p:cNvSpPr txBox="1"/>
          <p:nvPr/>
        </p:nvSpPr>
        <p:spPr>
          <a:xfrm>
            <a:off x="8412480" y="336499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số đơn có Banana – món phổ biến nhất</a:t>
            </a:r>
            <a:endParaRPr lang="en-US" sz="1400" dirty="0"/>
          </a:p>
        </p:txBody>
      </p:sp>
      <p:sp>
        <p:nvSpPr>
          <p:cNvPr id="12" name="stat"/>
          <p:cNvSpPr/>
          <p:nvPr/>
        </p:nvSpPr>
        <p:spPr>
          <a:xfrm>
            <a:off x="8138160" y="4114800"/>
            <a:ext cx="3474720" cy="1188720"/>
          </a:xfrm>
          <a:prstGeom prst="roundRect">
            <a:avLst>
              <a:gd name="adj" fmla="val 4615"/>
            </a:avLst>
          </a:prstGeom>
          <a:solidFill>
            <a:srgbClr val="FFFFFF"/>
          </a:solidFill>
          <a:ln w="19050">
            <a:solidFill>
              <a:srgbClr val="1C2B22"/>
            </a:solidFill>
            <a:prstDash val="solid"/>
          </a:ln>
        </p:spPr>
      </p:sp>
      <p:sp>
        <p:nvSpPr>
          <p:cNvPr id="13" name="stat-hole"/>
          <p:cNvSpPr/>
          <p:nvPr/>
        </p:nvSpPr>
        <p:spPr>
          <a:xfrm>
            <a:off x="8055864" y="4626864"/>
            <a:ext cx="164592" cy="164592"/>
          </a:xfrm>
          <a:prstGeom prst="ellipse">
            <a:avLst/>
          </a:prstGeom>
          <a:solidFill>
            <a:srgbClr val="FFFFFF"/>
          </a:solidFill>
          <a:ln w="19050">
            <a:solidFill>
              <a:srgbClr val="1C2B22"/>
            </a:solidFill>
            <a:prstDash val="solid"/>
          </a:ln>
        </p:spPr>
      </p:sp>
      <p:sp>
        <p:nvSpPr>
          <p:cNvPr id="14" name="Text 11"/>
          <p:cNvSpPr txBox="1"/>
          <p:nvPr/>
        </p:nvSpPr>
        <p:spPr>
          <a:xfrm>
            <a:off x="8412480" y="4224528"/>
            <a:ext cx="30632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3,2 triệu</a:t>
            </a:r>
            <a:endParaRPr lang="en-US" sz="3000" dirty="0"/>
          </a:p>
        </p:txBody>
      </p:sp>
      <p:sp>
        <p:nvSpPr>
          <p:cNvPr id="15" name="Text 12"/>
          <p:cNvSpPr txBox="1"/>
          <p:nvPr/>
        </p:nvSpPr>
        <p:spPr>
          <a:xfrm>
            <a:off x="8412480" y="473659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đơn hàng, 49.674 sản phẩm (bảng prior)</a:t>
            </a:r>
            <a:endParaRPr lang="en-US" sz="1400" dirty="0"/>
          </a:p>
        </p:txBody>
      </p:sp>
      <p:sp>
        <p:nvSpPr>
          <p:cNvPr id="16" name="Text 13"/>
          <p:cNvSpPr txBox="1"/>
          <p:nvPr/>
        </p:nvSpPr>
        <p:spPr>
          <a:xfrm>
            <a:off x="548640" y="5532120"/>
            <a:ext cx="7040880" cy="45720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Hệ quả: luật kết hợp chỉ có thể xoay quanh vài trăm sản phẩm phổ biến.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32,4 triệu dòng thành 4 tập giao dịch đại diện tốt</a:t>
            </a:r>
            <a:endParaRPr lang="en-US" sz="3000" dirty="0"/>
          </a:p>
        </p:txBody>
      </p:sp>
      <p:pic>
        <p:nvPicPr>
          <p:cNvPr id="3" name="pipeline" descr="C:\Users\DELL\AppData\Local\Temp\claude\e--2026-Year-Ki-1-Nam-4-khaiPha-duLieu-apriori-vs-fpgrowth-instacart\f1a2eb5d-69cf-4f00-8c37-e240052e08b4\scratchpad\deck\img\h_pipeline.png">    </p:cNvPr>
          <p:cNvPicPr>
            <a:picLocks noChangeAspect="1"/>
          </p:cNvPicPr>
          <p:nvPr/>
        </p:nvPicPr>
        <p:blipFill>
          <a:blip r:embed="rId1"/>
          <a:stretch>
            <a:fillRect/>
          </a:stretch>
        </p:blipFill>
        <p:spPr>
          <a:xfrm>
            <a:off x="548640" y="1371600"/>
            <a:ext cx="7315200" cy="4374609"/>
          </a:xfrm>
          <a:prstGeom prst="rect">
            <a:avLst/>
          </a:prstGeom>
        </p:spPr>
      </p:pic>
      <p:sp>
        <p:nvSpPr>
          <p:cNvPr id="4" name="stat"/>
          <p:cNvSpPr/>
          <p:nvPr/>
        </p:nvSpPr>
        <p:spPr>
          <a:xfrm>
            <a:off x="8366760" y="1371600"/>
            <a:ext cx="3246120" cy="1188720"/>
          </a:xfrm>
          <a:prstGeom prst="roundRect">
            <a:avLst>
              <a:gd name="adj" fmla="val 4615"/>
            </a:avLst>
          </a:prstGeom>
          <a:solidFill>
            <a:srgbClr val="FFFFFF"/>
          </a:solidFill>
          <a:ln w="19050">
            <a:solidFill>
              <a:srgbClr val="1C2B22"/>
            </a:solidFill>
            <a:prstDash val="solid"/>
          </a:ln>
        </p:spPr>
      </p:sp>
      <p:sp>
        <p:nvSpPr>
          <p:cNvPr id="5" name="stat-hole"/>
          <p:cNvSpPr/>
          <p:nvPr/>
        </p:nvSpPr>
        <p:spPr>
          <a:xfrm>
            <a:off x="8284464" y="1883664"/>
            <a:ext cx="164592" cy="164592"/>
          </a:xfrm>
          <a:prstGeom prst="ellipse">
            <a:avLst/>
          </a:prstGeom>
          <a:solidFill>
            <a:srgbClr val="FFFFFF"/>
          </a:solidFill>
          <a:ln w="19050">
            <a:solidFill>
              <a:srgbClr val="1C2B22"/>
            </a:solidFill>
            <a:prstDash val="solid"/>
          </a:ln>
        </p:spPr>
      </p:sp>
      <p:sp>
        <p:nvSpPr>
          <p:cNvPr id="6" name="Text 3"/>
          <p:cNvSpPr txBox="1"/>
          <p:nvPr/>
        </p:nvSpPr>
        <p:spPr>
          <a:xfrm>
            <a:off x="8641080" y="1481328"/>
            <a:ext cx="28346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4,88%</a:t>
            </a:r>
            <a:endParaRPr lang="en-US" sz="3000" dirty="0"/>
          </a:p>
        </p:txBody>
      </p:sp>
      <p:sp>
        <p:nvSpPr>
          <p:cNvPr id="7" name="Text 4"/>
          <p:cNvSpPr txBox="1"/>
          <p:nvPr/>
        </p:nvSpPr>
        <p:spPr>
          <a:xfrm>
            <a:off x="8641080" y="1993392"/>
            <a:ext cx="28346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đơn chỉ có 1 món bị loại vì không sinh được luật</a:t>
            </a:r>
            <a:endParaRPr lang="en-US" sz="1400" dirty="0"/>
          </a:p>
        </p:txBody>
      </p:sp>
      <p:sp>
        <p:nvSpPr>
          <p:cNvPr id="8" name="stat"/>
          <p:cNvSpPr/>
          <p:nvPr/>
        </p:nvSpPr>
        <p:spPr>
          <a:xfrm>
            <a:off x="8366760" y="2743200"/>
            <a:ext cx="3246120" cy="1188720"/>
          </a:xfrm>
          <a:prstGeom prst="roundRect">
            <a:avLst>
              <a:gd name="adj" fmla="val 4615"/>
            </a:avLst>
          </a:prstGeom>
          <a:solidFill>
            <a:srgbClr val="FFFFFF"/>
          </a:solidFill>
          <a:ln w="19050">
            <a:solidFill>
              <a:srgbClr val="1C2B22"/>
            </a:solidFill>
            <a:prstDash val="solid"/>
          </a:ln>
        </p:spPr>
      </p:sp>
      <p:sp>
        <p:nvSpPr>
          <p:cNvPr id="9" name="stat-hole"/>
          <p:cNvSpPr/>
          <p:nvPr/>
        </p:nvSpPr>
        <p:spPr>
          <a:xfrm>
            <a:off x="8284464" y="3255264"/>
            <a:ext cx="164592" cy="164592"/>
          </a:xfrm>
          <a:prstGeom prst="ellipse">
            <a:avLst/>
          </a:prstGeom>
          <a:solidFill>
            <a:srgbClr val="FFFFFF"/>
          </a:solidFill>
          <a:ln w="19050">
            <a:solidFill>
              <a:srgbClr val="1C2B22"/>
            </a:solidFill>
            <a:prstDash val="solid"/>
          </a:ln>
        </p:spPr>
      </p:sp>
      <p:sp>
        <p:nvSpPr>
          <p:cNvPr id="10" name="Text 7"/>
          <p:cNvSpPr txBox="1"/>
          <p:nvPr/>
        </p:nvSpPr>
        <p:spPr>
          <a:xfrm>
            <a:off x="8641080" y="2852928"/>
            <a:ext cx="2834640" cy="5029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10k / 50k / 100k</a:t>
            </a:r>
            <a:endParaRPr lang="en-US" sz="2600" dirty="0"/>
          </a:p>
        </p:txBody>
      </p:sp>
      <p:sp>
        <p:nvSpPr>
          <p:cNvPr id="11" name="Text 8"/>
          <p:cNvSpPr txBox="1"/>
          <p:nvPr/>
        </p:nvSpPr>
        <p:spPr>
          <a:xfrm>
            <a:off x="8641080" y="3364992"/>
            <a:ext cx="28346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mẫu nhỏ nằm trọn trong mẫu lớn, seed 42</a:t>
            </a:r>
            <a:endParaRPr lang="en-US" sz="1400" dirty="0"/>
          </a:p>
        </p:txBody>
      </p:sp>
      <p:sp>
        <p:nvSpPr>
          <p:cNvPr id="12" name="stat"/>
          <p:cNvSpPr/>
          <p:nvPr/>
        </p:nvSpPr>
        <p:spPr>
          <a:xfrm>
            <a:off x="8366760" y="4114800"/>
            <a:ext cx="3246120" cy="1188720"/>
          </a:xfrm>
          <a:prstGeom prst="roundRect">
            <a:avLst>
              <a:gd name="adj" fmla="val 4615"/>
            </a:avLst>
          </a:prstGeom>
          <a:solidFill>
            <a:srgbClr val="FFFFFF"/>
          </a:solidFill>
          <a:ln w="19050">
            <a:solidFill>
              <a:srgbClr val="1C2B22"/>
            </a:solidFill>
            <a:prstDash val="solid"/>
          </a:ln>
        </p:spPr>
      </p:sp>
      <p:sp>
        <p:nvSpPr>
          <p:cNvPr id="13" name="stat-hole"/>
          <p:cNvSpPr/>
          <p:nvPr/>
        </p:nvSpPr>
        <p:spPr>
          <a:xfrm>
            <a:off x="8284464" y="4626864"/>
            <a:ext cx="164592" cy="164592"/>
          </a:xfrm>
          <a:prstGeom prst="ellipse">
            <a:avLst/>
          </a:prstGeom>
          <a:solidFill>
            <a:srgbClr val="FFFFFF"/>
          </a:solidFill>
          <a:ln w="19050">
            <a:solidFill>
              <a:srgbClr val="1C2B22"/>
            </a:solidFill>
            <a:prstDash val="solid"/>
          </a:ln>
        </p:spPr>
      </p:sp>
      <p:sp>
        <p:nvSpPr>
          <p:cNvPr id="14" name="Text 11"/>
          <p:cNvSpPr txBox="1"/>
          <p:nvPr/>
        </p:nvSpPr>
        <p:spPr>
          <a:xfrm>
            <a:off x="8641080" y="4224528"/>
            <a:ext cx="28346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0,9997</a:t>
            </a:r>
            <a:endParaRPr lang="en-US" sz="3000" dirty="0"/>
          </a:p>
        </p:txBody>
      </p:sp>
      <p:sp>
        <p:nvSpPr>
          <p:cNvPr id="15" name="Text 12"/>
          <p:cNvSpPr txBox="1"/>
          <p:nvPr/>
        </p:nvSpPr>
        <p:spPr>
          <a:xfrm>
            <a:off x="8641080" y="4736592"/>
            <a:ext cx="28346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tương quan support giữa mẫu 100k và tổng thể</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FP-Growth nén dữ liệu vào cây, không sinh ứng viên</a:t>
            </a:r>
            <a:endParaRPr lang="en-US" sz="3000" dirty="0"/>
          </a:p>
        </p:txBody>
      </p:sp>
      <p:pic>
        <p:nvPicPr>
          <p:cNvPr id="3" name="fptree" descr="C:\Users\DELL\AppData\Local\Temp\claude\e--2026-Year-Ki-1-Nam-4-khaiPha-duLieu-apriori-vs-fpgrowth-instacart\f1a2eb5d-69cf-4f00-8c37-e240052e08b4\scratchpad\deck\img\h_fptree.png">    </p:cNvPr>
          <p:cNvPicPr>
            <a:picLocks noChangeAspect="1"/>
          </p:cNvPicPr>
          <p:nvPr/>
        </p:nvPicPr>
        <p:blipFill>
          <a:blip r:embed="rId1"/>
          <a:stretch>
            <a:fillRect/>
          </a:stretch>
        </p:blipFill>
        <p:spPr>
          <a:xfrm>
            <a:off x="548640" y="1371600"/>
            <a:ext cx="6309360" cy="3456259"/>
          </a:xfrm>
          <a:prstGeom prst="rect">
            <a:avLst/>
          </a:prstGeom>
        </p:spPr>
      </p:pic>
      <p:sp>
        <p:nvSpPr>
          <p:cNvPr id="4" name="step"/>
          <p:cNvSpPr/>
          <p:nvPr/>
        </p:nvSpPr>
        <p:spPr>
          <a:xfrm>
            <a:off x="7315200" y="1417320"/>
            <a:ext cx="457200" cy="457200"/>
          </a:xfrm>
          <a:prstGeom prst="ellipse">
            <a:avLst/>
          </a:prstGeom>
          <a:solidFill>
            <a:schemeClr val="accent1"/>
          </a:solidFill>
          <a:ln/>
        </p:spPr>
      </p:sp>
      <p:sp>
        <p:nvSpPr>
          <p:cNvPr id="5" name="Text 2"/>
          <p:cNvSpPr txBox="1"/>
          <p:nvPr/>
        </p:nvSpPr>
        <p:spPr>
          <a:xfrm>
            <a:off x="731520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7955280" y="1399032"/>
            <a:ext cx="36576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Quét lần 1</a:t>
            </a:r>
            <a:endParaRPr lang="en-US" sz="1700" dirty="0"/>
          </a:p>
        </p:txBody>
      </p:sp>
      <p:sp>
        <p:nvSpPr>
          <p:cNvPr id="7" name="Text 4"/>
          <p:cNvSpPr txBox="1"/>
          <p:nvPr/>
        </p:nvSpPr>
        <p:spPr>
          <a:xfrm>
            <a:off x="7955280" y="1764792"/>
            <a:ext cx="3657600" cy="64008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Đếm support từng món, bỏ món hiếm, sắp xếp giảm dần</a:t>
            </a:r>
            <a:endParaRPr lang="en-US" sz="1400" dirty="0"/>
          </a:p>
        </p:txBody>
      </p:sp>
      <p:sp>
        <p:nvSpPr>
          <p:cNvPr id="8" name="step"/>
          <p:cNvSpPr/>
          <p:nvPr/>
        </p:nvSpPr>
        <p:spPr>
          <a:xfrm>
            <a:off x="7315200" y="2514600"/>
            <a:ext cx="457200" cy="457200"/>
          </a:xfrm>
          <a:prstGeom prst="ellipse">
            <a:avLst/>
          </a:prstGeom>
          <a:solidFill>
            <a:schemeClr val="accent1"/>
          </a:solidFill>
          <a:ln/>
        </p:spPr>
      </p:sp>
      <p:sp>
        <p:nvSpPr>
          <p:cNvPr id="9" name="Text 6"/>
          <p:cNvSpPr txBox="1"/>
          <p:nvPr/>
        </p:nvSpPr>
        <p:spPr>
          <a:xfrm>
            <a:off x="731520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0" name="Text 7"/>
          <p:cNvSpPr txBox="1"/>
          <p:nvPr/>
        </p:nvSpPr>
        <p:spPr>
          <a:xfrm>
            <a:off x="7955280" y="2496312"/>
            <a:ext cx="36576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Quét lần 2</a:t>
            </a:r>
            <a:endParaRPr lang="en-US" sz="1700" dirty="0"/>
          </a:p>
        </p:txBody>
      </p:sp>
      <p:sp>
        <p:nvSpPr>
          <p:cNvPr id="11" name="Text 8"/>
          <p:cNvSpPr txBox="1"/>
          <p:nvPr/>
        </p:nvSpPr>
        <p:spPr>
          <a:xfrm>
            <a:off x="7955280" y="2862072"/>
            <a:ext cx="3657600" cy="64008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Chèn từng giỏ vào cây; giỏ có chung tiền tố dùng chung nhánh</a:t>
            </a:r>
            <a:endParaRPr lang="en-US" sz="1400" dirty="0"/>
          </a:p>
        </p:txBody>
      </p:sp>
      <p:sp>
        <p:nvSpPr>
          <p:cNvPr id="12" name="step"/>
          <p:cNvSpPr/>
          <p:nvPr/>
        </p:nvSpPr>
        <p:spPr>
          <a:xfrm>
            <a:off x="7315200" y="3611880"/>
            <a:ext cx="457200" cy="457200"/>
          </a:xfrm>
          <a:prstGeom prst="ellipse">
            <a:avLst/>
          </a:prstGeom>
          <a:solidFill>
            <a:schemeClr val="accent1"/>
          </a:solidFill>
          <a:ln/>
        </p:spPr>
      </p:sp>
      <p:sp>
        <p:nvSpPr>
          <p:cNvPr id="13" name="Text 10"/>
          <p:cNvSpPr txBox="1"/>
          <p:nvPr/>
        </p:nvSpPr>
        <p:spPr>
          <a:xfrm>
            <a:off x="7315200" y="3611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7955280" y="3593592"/>
            <a:ext cx="365760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Khai phá đệ quy</a:t>
            </a:r>
            <a:endParaRPr lang="en-US" sz="1700" dirty="0"/>
          </a:p>
        </p:txBody>
      </p:sp>
      <p:sp>
        <p:nvSpPr>
          <p:cNvPr id="15" name="Text 12"/>
          <p:cNvSpPr txBox="1"/>
          <p:nvPr/>
        </p:nvSpPr>
        <p:spPr>
          <a:xfrm>
            <a:off x="7955280" y="3959352"/>
            <a:ext cx="3657600" cy="64008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Dựng cây điều kiện cho từng món, tìm mọi tập phổ biến</a:t>
            </a:r>
            <a:endParaRPr lang="en-US" sz="1400" dirty="0"/>
          </a:p>
        </p:txBody>
      </p:sp>
      <p:sp>
        <p:nvSpPr>
          <p:cNvPr id="16" name="compare"/>
          <p:cNvSpPr/>
          <p:nvPr/>
        </p:nvSpPr>
        <p:spPr>
          <a:xfrm>
            <a:off x="685800" y="5074920"/>
            <a:ext cx="10927080" cy="960120"/>
          </a:xfrm>
          <a:prstGeom prst="roundRect">
            <a:avLst>
              <a:gd name="adj" fmla="val 5714"/>
            </a:avLst>
          </a:prstGeom>
          <a:solidFill>
            <a:srgbClr val="EEF2EA"/>
          </a:solidFill>
          <a:ln w="19050">
            <a:solidFill>
              <a:srgbClr val="1C2B22"/>
            </a:solidFill>
            <a:prstDash val="solid"/>
          </a:ln>
        </p:spPr>
      </p:sp>
      <p:sp>
        <p:nvSpPr>
          <p:cNvPr id="17" name="compare-hole"/>
          <p:cNvSpPr/>
          <p:nvPr/>
        </p:nvSpPr>
        <p:spPr>
          <a:xfrm>
            <a:off x="603504" y="5472684"/>
            <a:ext cx="164592" cy="164592"/>
          </a:xfrm>
          <a:prstGeom prst="ellipse">
            <a:avLst/>
          </a:prstGeom>
          <a:solidFill>
            <a:srgbClr val="FFFFFF"/>
          </a:solidFill>
          <a:ln w="19050">
            <a:solidFill>
              <a:srgbClr val="1C2B22"/>
            </a:solidFill>
            <a:prstDash val="solid"/>
          </a:ln>
        </p:spPr>
      </p:sp>
      <p:sp>
        <p:nvSpPr>
          <p:cNvPr id="18" name="Text 15"/>
          <p:cNvSpPr txBox="1"/>
          <p:nvPr/>
        </p:nvSpPr>
        <p:spPr>
          <a:xfrm>
            <a:off x="960120" y="5074920"/>
            <a:ext cx="10424160" cy="960120"/>
          </a:xfrm>
          <a:prstGeom prst="rect">
            <a:avLst/>
          </a:prstGeom>
          <a:noFill/>
          <a:ln/>
        </p:spPr>
        <p:txBody>
          <a:bodyPr wrap="square" lIns="0" tIns="0" rIns="0" bIns="0" rtlCol="0" anchor="ctr"/>
          <a:lstStyle/>
          <a:p>
            <a:pPr indent="0" marL="0">
              <a:buNone/>
            </a:pPr>
            <a:r>
              <a:rPr lang="en-US" sz="1800" dirty="0">
                <a:solidFill>
                  <a:schemeClr val="tx1"/>
                </a:solidFill>
                <a:latin typeface="Calibri" pitchFamily="34" charset="0"/>
                <a:ea typeface="Calibri" pitchFamily="34" charset="-122"/>
                <a:cs typeface="Calibri" pitchFamily="34" charset="-120"/>
              </a:rPr>
              <a:t>Ở support 0,5%, Apriori phải sinh </a:t>
            </a:r>
            <a:pPr indent="0" marL="0">
              <a:buNone/>
            </a:pPr>
            <a:r>
              <a:rPr lang="en-US" sz="1800" b="1" dirty="0">
                <a:solidFill>
                  <a:schemeClr val="accent2"/>
                </a:solidFill>
                <a:latin typeface="Calibri" pitchFamily="34" charset="0"/>
                <a:ea typeface="Calibri" pitchFamily="34" charset="-122"/>
                <a:cs typeface="Calibri" pitchFamily="34" charset="-120"/>
              </a:rPr>
              <a:t>35.245 cặp ứng viên</a:t>
            </a:r>
            <a:pPr indent="0" marL="0">
              <a:buNone/>
            </a:pPr>
            <a:r>
              <a:rPr lang="en-US" sz="1800" dirty="0">
                <a:solidFill>
                  <a:schemeClr val="tx1"/>
                </a:solidFill>
                <a:latin typeface="Calibri" pitchFamily="34" charset="0"/>
                <a:ea typeface="Calibri" pitchFamily="34" charset="-122"/>
                <a:cs typeface="Calibri" pitchFamily="34" charset="-120"/>
              </a:rPr>
              <a:t> để đếm; FP-Growth không sinh ứng viên nào và chỉ duyệt dữ liệu 2 lần.</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Bản tự cài đặt khớp 100% với mlxtend</a:t>
            </a:r>
            <a:endParaRPr lang="en-US" sz="3000" dirty="0"/>
          </a:p>
        </p:txBody>
      </p:sp>
      <p:graphicFrame>
        <p:nvGraphicFramePr>
          <p:cNvPr id="7" name="verify-table"/>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377440"/>
                <a:gridCol w="1005840"/>
                <a:gridCol w="1371600"/>
                <a:gridCol w="1371600"/>
                <a:gridCol w="822960"/>
              </a:tblGrid>
              <a:tr h="6400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Dữ liệu</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Support</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Tập phổ biến</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Luật</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Khớp</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solidFill>
                      <a:schemeClr val="accent1"/>
                    </a:solidFill>
                  </a:tcPr>
                </a:tc>
              </a:tr>
              <a:tr h="6400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Sản phẩm, 10.000 giỏ</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136 / 136</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13 / 13</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Có</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r>
              <a:tr h="6400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Sản phẩm, 50.000 giỏ</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0,5%</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368 / 368</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57 / 57</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Có</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r>
              <a:tr h="6400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Kệ hàng, 98.491 giỏ</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174 / 174</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277 / 277</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Có</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r>
              <a:tr h="640080">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Kệ hàng, 30.000 giỏ</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943 / 943</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dirty="0">
                          <a:solidFill>
                            <a:schemeClr val="tx1"/>
                          </a:solidFill>
                          <a:latin typeface="Calibri" pitchFamily="34" charset="0"/>
                          <a:ea typeface="Calibri" pitchFamily="34" charset="-122"/>
                          <a:cs typeface="Calibri" pitchFamily="34" charset="-120"/>
                        </a:rPr>
                        <a:t>2.426 / 2.426</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algn="ctr" indent="0" marL="0">
                        <a:buNone/>
                      </a:pPr>
                      <a:r>
                        <a:rPr lang="en-US" sz="1500" b="1" dirty="0">
                          <a:solidFill>
                            <a:schemeClr val="accent1"/>
                          </a:solidFill>
                          <a:latin typeface="Calibri" pitchFamily="34" charset="0"/>
                          <a:ea typeface="Calibri" pitchFamily="34" charset="-122"/>
                          <a:cs typeface="Calibri" pitchFamily="34" charset="-120"/>
                        </a:rPr>
                        <a:t>Có</a:t>
                      </a:r>
                      <a:endParaRPr lang="en-US" sz="1500" dirty="0">
                        <a:latin typeface="Calibri" charset="0"/>
                        <a:ea typeface="Calibri" charset="0"/>
                        <a:cs typeface="Calibri" charset="0"/>
                      </a:endParaRPr>
                    </a:p>
                  </a:txBody>
                  <a:tcPr marL="73152" marR="73152" marT="73152" marB="73152" anchor="ctr">
                    <a:lnL w="9525" cap="flat" cmpd="sng" algn="ctr">
                      <a:solidFill>
                        <a:srgbClr val="D6DED2"/>
                      </a:solidFill>
                      <a:prstDash val="solid"/>
                      <a:round/>
                      <a:headEnd type="none" w="med" len="med"/>
                      <a:tailEnd type="none" w="med" len="med"/>
                    </a:lnL>
                    <a:lnR w="9525" cap="flat" cmpd="sng" algn="ctr">
                      <a:solidFill>
                        <a:srgbClr val="D6DED2"/>
                      </a:solidFill>
                      <a:prstDash val="solid"/>
                      <a:round/>
                      <a:headEnd type="none" w="med" len="med"/>
                      <a:tailEnd type="none" w="med" len="med"/>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r>
            </a:tbl>
          </a:graphicData>
        </a:graphic>
      </p:graphicFrame>
      <p:sp>
        <p:nvSpPr>
          <p:cNvPr id="4" name="Text 1"/>
          <p:cNvSpPr txBox="1"/>
          <p:nvPr/>
        </p:nvSpPr>
        <p:spPr>
          <a:xfrm>
            <a:off x="548640" y="4800600"/>
            <a:ext cx="6949440" cy="548640"/>
          </a:xfrm>
          <a:prstGeom prst="rect">
            <a:avLst/>
          </a:prstGeom>
          <a:noFill/>
          <a:ln/>
        </p:spPr>
        <p:txBody>
          <a:bodyPr wrap="square" lIns="0" tIns="0" rIns="0" bIns="0" rtlCol="0" anchor="t"/>
          <a:lstStyle/>
          <a:p>
            <a:pPr indent="0" marL="0">
              <a:buNone/>
            </a:pPr>
            <a:r>
              <a:rPr lang="en-US" sz="1300" dirty="0">
                <a:solidFill>
                  <a:srgbClr val="55645A"/>
                </a:solidFill>
                <a:latin typeface="Calibri" pitchFamily="34" charset="0"/>
                <a:ea typeface="Calibri" pitchFamily="34" charset="-122"/>
                <a:cs typeface="Calibri" pitchFamily="34" charset="-120"/>
              </a:rPr>
              <a:t>Số tập phổ biến và số luật ghi theo dạng: tự cài đặt / mlxtend. Support của từng tập cũng trùng khớp.</a:t>
            </a:r>
            <a:endParaRPr lang="en-US" sz="1300" dirty="0"/>
          </a:p>
        </p:txBody>
      </p:sp>
      <p:sp>
        <p:nvSpPr>
          <p:cNvPr id="5" name="bug-tag"/>
          <p:cNvSpPr/>
          <p:nvPr/>
        </p:nvSpPr>
        <p:spPr>
          <a:xfrm>
            <a:off x="8138160" y="1463040"/>
            <a:ext cx="3474720" cy="3200400"/>
          </a:xfrm>
          <a:prstGeom prst="roundRect">
            <a:avLst>
              <a:gd name="adj" fmla="val 1714"/>
            </a:avLst>
          </a:prstGeom>
          <a:solidFill>
            <a:srgbClr val="FFFFFF"/>
          </a:solidFill>
          <a:ln w="19050">
            <a:solidFill>
              <a:srgbClr val="1C2B22"/>
            </a:solidFill>
            <a:prstDash val="solid"/>
          </a:ln>
        </p:spPr>
      </p:sp>
      <p:sp>
        <p:nvSpPr>
          <p:cNvPr id="6" name="bug-tag-hole"/>
          <p:cNvSpPr/>
          <p:nvPr/>
        </p:nvSpPr>
        <p:spPr>
          <a:xfrm>
            <a:off x="8055864" y="2980944"/>
            <a:ext cx="164592" cy="164592"/>
          </a:xfrm>
          <a:prstGeom prst="ellipse">
            <a:avLst/>
          </a:prstGeom>
          <a:solidFill>
            <a:srgbClr val="FFFFFF"/>
          </a:solidFill>
          <a:ln w="19050">
            <a:solidFill>
              <a:srgbClr val="1C2B22"/>
            </a:solidFill>
            <a:prstDash val="solid"/>
          </a:ln>
        </p:spPr>
      </p:sp>
      <p:sp>
        <p:nvSpPr>
          <p:cNvPr id="7" name="Text 4"/>
          <p:cNvSpPr txBox="1"/>
          <p:nvPr/>
        </p:nvSpPr>
        <p:spPr>
          <a:xfrm>
            <a:off x="8412480" y="1691640"/>
            <a:ext cx="301752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Lỗi tìm ra nhờ kiểm chứng</a:t>
            </a:r>
            <a:endParaRPr lang="en-US" sz="1700" dirty="0"/>
          </a:p>
        </p:txBody>
      </p:sp>
      <p:sp>
        <p:nvSpPr>
          <p:cNvPr id="8" name="Text 5"/>
          <p:cNvSpPr txBox="1"/>
          <p:nvPr/>
        </p:nvSpPr>
        <p:spPr>
          <a:xfrm>
            <a:off x="8412480" y="2148840"/>
            <a:ext cx="301752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int(minsup × n) làm tròn xuống, nên món dưới ngưỡng vẫn lọt.</a:t>
            </a:r>
            <a:endParaRPr lang="en-US" sz="1400" dirty="0"/>
          </a:p>
        </p:txBody>
      </p:sp>
      <p:sp>
        <p:nvSpPr>
          <p:cNvPr id="9" name="Text 6"/>
          <p:cNvSpPr txBox="1"/>
          <p:nvPr/>
        </p:nvSpPr>
        <p:spPr>
          <a:xfrm>
            <a:off x="8412480" y="3063240"/>
            <a:ext cx="3017520" cy="54864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⌈minsup × n⌉</a:t>
            </a:r>
            <a:endParaRPr lang="en-US" sz="2800" dirty="0"/>
          </a:p>
        </p:txBody>
      </p:sp>
      <p:sp>
        <p:nvSpPr>
          <p:cNvPr id="10" name="Text 7"/>
          <p:cNvSpPr txBox="1"/>
          <p:nvPr/>
        </p:nvSpPr>
        <p:spPr>
          <a:xfrm>
            <a:off x="8412480" y="3657600"/>
            <a:ext cx="3017520" cy="32004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Đã sửa: làm tròn lên</a:t>
            </a:r>
            <a:endParaRPr lang="en-US" sz="1400" dirty="0"/>
          </a:p>
        </p:txBody>
      </p:sp>
      <p:sp>
        <p:nvSpPr>
          <p:cNvPr id="11" name="Text 8"/>
          <p:cNvSpPr txBox="1"/>
          <p:nvPr/>
        </p:nvSpPr>
        <p:spPr>
          <a:xfrm>
            <a:off x="548640" y="5349240"/>
            <a:ext cx="6949440" cy="365760"/>
          </a:xfrm>
          <a:prstGeom prst="rect">
            <a:avLst/>
          </a:prstGeom>
          <a:noFill/>
          <a:ln/>
        </p:spPr>
        <p:txBody>
          <a:bodyPr wrap="square" lIns="0" tIns="0" rIns="0" bIns="0" rtlCol="0" anchor="t"/>
          <a:lstStyle/>
          <a:p>
            <a:pPr indent="0" marL="0">
              <a:buNone/>
            </a:pPr>
            <a:r>
              <a:rPr lang="en-US" sz="1400" dirty="0">
                <a:solidFill>
                  <a:srgbClr val="55645A"/>
                </a:solidFill>
                <a:latin typeface="Courier New" pitchFamily="34" charset="0"/>
                <a:ea typeface="Courier New" pitchFamily="34" charset="-122"/>
                <a:cs typeface="Courier New" pitchFamily="34" charset="-120"/>
              </a:rPr>
              <a:t>Mã nguồn: src/my_fpgrowth.py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Gợi ý theo luật, thiếu thì bù bằng món bán chạy</a:t>
            </a:r>
            <a:endParaRPr lang="en-US" sz="3000" dirty="0"/>
          </a:p>
        </p:txBody>
      </p:sp>
      <p:sp>
        <p:nvSpPr>
          <p:cNvPr id="3" name="flow"/>
          <p:cNvSpPr/>
          <p:nvPr/>
        </p:nvSpPr>
        <p:spPr>
          <a:xfrm>
            <a:off x="548640" y="1463040"/>
            <a:ext cx="2468880" cy="1234440"/>
          </a:xfrm>
          <a:prstGeom prst="roundRect">
            <a:avLst>
              <a:gd name="adj" fmla="val 5926"/>
            </a:avLst>
          </a:prstGeom>
          <a:solidFill>
            <a:schemeClr val="bg2"/>
          </a:solidFill>
          <a:ln/>
        </p:spPr>
      </p:sp>
      <p:sp>
        <p:nvSpPr>
          <p:cNvPr id="4" name="Text 2"/>
          <p:cNvSpPr txBox="1"/>
          <p:nvPr/>
        </p:nvSpPr>
        <p:spPr>
          <a:xfrm>
            <a:off x="731520" y="157276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731520" y="1938528"/>
            <a:ext cx="2148840"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Chọn luật X → Y có X nằm trong giỏ</a:t>
            </a:r>
            <a:endParaRPr lang="en-US" sz="1500" dirty="0"/>
          </a:p>
        </p:txBody>
      </p:sp>
      <p:sp>
        <p:nvSpPr>
          <p:cNvPr id="6" name="arrow"/>
          <p:cNvSpPr/>
          <p:nvPr/>
        </p:nvSpPr>
        <p:spPr>
          <a:xfrm>
            <a:off x="3054096" y="1938528"/>
            <a:ext cx="292608" cy="256032"/>
          </a:xfrm>
          <a:prstGeom prst="rightArrow">
            <a:avLst/>
          </a:prstGeom>
          <a:solidFill>
            <a:srgbClr val="8A948C"/>
          </a:solidFill>
          <a:ln/>
        </p:spPr>
      </p:sp>
      <p:sp>
        <p:nvSpPr>
          <p:cNvPr id="7" name="flow"/>
          <p:cNvSpPr/>
          <p:nvPr/>
        </p:nvSpPr>
        <p:spPr>
          <a:xfrm>
            <a:off x="3383280" y="1463040"/>
            <a:ext cx="2468880" cy="1234440"/>
          </a:xfrm>
          <a:prstGeom prst="roundRect">
            <a:avLst>
              <a:gd name="adj" fmla="val 5926"/>
            </a:avLst>
          </a:prstGeom>
          <a:solidFill>
            <a:schemeClr val="bg2"/>
          </a:solidFill>
          <a:ln/>
        </p:spPr>
      </p:sp>
      <p:sp>
        <p:nvSpPr>
          <p:cNvPr id="8" name="Text 6"/>
          <p:cNvSpPr txBox="1"/>
          <p:nvPr/>
        </p:nvSpPr>
        <p:spPr>
          <a:xfrm>
            <a:off x="3566160" y="157276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2</a:t>
            </a:r>
            <a:endParaRPr lang="en-US" sz="2000" dirty="0"/>
          </a:p>
        </p:txBody>
      </p:sp>
      <p:sp>
        <p:nvSpPr>
          <p:cNvPr id="9" name="Text 7"/>
          <p:cNvSpPr txBox="1"/>
          <p:nvPr/>
        </p:nvSpPr>
        <p:spPr>
          <a:xfrm>
            <a:off x="3566160" y="1938528"/>
            <a:ext cx="2148840"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Lấy các món trong Y mà khách chưa có</a:t>
            </a:r>
            <a:endParaRPr lang="en-US" sz="1500" dirty="0"/>
          </a:p>
        </p:txBody>
      </p:sp>
      <p:sp>
        <p:nvSpPr>
          <p:cNvPr id="10" name="arrow"/>
          <p:cNvSpPr/>
          <p:nvPr/>
        </p:nvSpPr>
        <p:spPr>
          <a:xfrm>
            <a:off x="5888736" y="1938528"/>
            <a:ext cx="292608" cy="256032"/>
          </a:xfrm>
          <a:prstGeom prst="rightArrow">
            <a:avLst/>
          </a:prstGeom>
          <a:solidFill>
            <a:srgbClr val="8A948C"/>
          </a:solidFill>
          <a:ln/>
        </p:spPr>
      </p:sp>
      <p:sp>
        <p:nvSpPr>
          <p:cNvPr id="11" name="flow"/>
          <p:cNvSpPr/>
          <p:nvPr/>
        </p:nvSpPr>
        <p:spPr>
          <a:xfrm>
            <a:off x="6217920" y="1463040"/>
            <a:ext cx="2468880" cy="1234440"/>
          </a:xfrm>
          <a:prstGeom prst="roundRect">
            <a:avLst>
              <a:gd name="adj" fmla="val 5926"/>
            </a:avLst>
          </a:prstGeom>
          <a:solidFill>
            <a:schemeClr val="bg2"/>
          </a:solidFill>
          <a:ln/>
        </p:spPr>
      </p:sp>
      <p:sp>
        <p:nvSpPr>
          <p:cNvPr id="12" name="Text 10"/>
          <p:cNvSpPr txBox="1"/>
          <p:nvPr/>
        </p:nvSpPr>
        <p:spPr>
          <a:xfrm>
            <a:off x="6400800" y="157276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6400800" y="1938528"/>
            <a:ext cx="2148840"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Chấm điểm = lift × confidence</a:t>
            </a:r>
            <a:endParaRPr lang="en-US" sz="1500" dirty="0"/>
          </a:p>
        </p:txBody>
      </p:sp>
      <p:sp>
        <p:nvSpPr>
          <p:cNvPr id="14" name="arrow"/>
          <p:cNvSpPr/>
          <p:nvPr/>
        </p:nvSpPr>
        <p:spPr>
          <a:xfrm>
            <a:off x="8723376" y="1938528"/>
            <a:ext cx="292608" cy="256032"/>
          </a:xfrm>
          <a:prstGeom prst="rightArrow">
            <a:avLst/>
          </a:prstGeom>
          <a:solidFill>
            <a:srgbClr val="8A948C"/>
          </a:solidFill>
          <a:ln/>
        </p:spPr>
      </p:sp>
      <p:sp>
        <p:nvSpPr>
          <p:cNvPr id="15" name="flow"/>
          <p:cNvSpPr/>
          <p:nvPr/>
        </p:nvSpPr>
        <p:spPr>
          <a:xfrm>
            <a:off x="9052560" y="1463040"/>
            <a:ext cx="2468880" cy="1234440"/>
          </a:xfrm>
          <a:prstGeom prst="roundRect">
            <a:avLst>
              <a:gd name="adj" fmla="val 5926"/>
            </a:avLst>
          </a:prstGeom>
          <a:solidFill>
            <a:schemeClr val="bg2"/>
          </a:solidFill>
          <a:ln/>
        </p:spPr>
      </p:sp>
      <p:sp>
        <p:nvSpPr>
          <p:cNvPr id="16" name="Text 14"/>
          <p:cNvSpPr txBox="1"/>
          <p:nvPr/>
        </p:nvSpPr>
        <p:spPr>
          <a:xfrm>
            <a:off x="9235440" y="1572768"/>
            <a:ext cx="457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4</a:t>
            </a:r>
            <a:endParaRPr lang="en-US" sz="2000" dirty="0"/>
          </a:p>
        </p:txBody>
      </p:sp>
      <p:sp>
        <p:nvSpPr>
          <p:cNvPr id="17" name="Text 15"/>
          <p:cNvSpPr txBox="1"/>
          <p:nvPr/>
        </p:nvSpPr>
        <p:spPr>
          <a:xfrm>
            <a:off x="9235440" y="1938528"/>
            <a:ext cx="2148840" cy="6858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Lấy k món điểm cao nhất, kèm giải thích</a:t>
            </a:r>
            <a:endParaRPr lang="en-US" sz="1500" dirty="0"/>
          </a:p>
        </p:txBody>
      </p:sp>
      <p:sp>
        <p:nvSpPr>
          <p:cNvPr id="18" name="rec-tag"/>
          <p:cNvSpPr/>
          <p:nvPr/>
        </p:nvSpPr>
        <p:spPr>
          <a:xfrm>
            <a:off x="685800" y="3246120"/>
            <a:ext cx="6035040" cy="2286000"/>
          </a:xfrm>
          <a:prstGeom prst="roundRect">
            <a:avLst>
              <a:gd name="adj" fmla="val 2400"/>
            </a:avLst>
          </a:prstGeom>
          <a:solidFill>
            <a:srgbClr val="FFFFFF"/>
          </a:solidFill>
          <a:ln w="19050">
            <a:solidFill>
              <a:srgbClr val="1C2B22"/>
            </a:solidFill>
            <a:prstDash val="solid"/>
          </a:ln>
        </p:spPr>
      </p:sp>
      <p:sp>
        <p:nvSpPr>
          <p:cNvPr id="19" name="rec-tag-hole"/>
          <p:cNvSpPr/>
          <p:nvPr/>
        </p:nvSpPr>
        <p:spPr>
          <a:xfrm>
            <a:off x="603504" y="4306824"/>
            <a:ext cx="164592" cy="164592"/>
          </a:xfrm>
          <a:prstGeom prst="ellipse">
            <a:avLst/>
          </a:prstGeom>
          <a:solidFill>
            <a:srgbClr val="FFFFFF"/>
          </a:solidFill>
          <a:ln w="19050">
            <a:solidFill>
              <a:srgbClr val="1C2B22"/>
            </a:solidFill>
            <a:prstDash val="solid"/>
          </a:ln>
        </p:spPr>
      </p:sp>
      <p:sp>
        <p:nvSpPr>
          <p:cNvPr id="20" name="Text 18"/>
          <p:cNvSpPr txBox="1"/>
          <p:nvPr/>
        </p:nvSpPr>
        <p:spPr>
          <a:xfrm>
            <a:off x="960120" y="3429000"/>
            <a:ext cx="3657600" cy="274320"/>
          </a:xfrm>
          <a:prstGeom prst="rect">
            <a:avLst/>
          </a:prstGeom>
          <a:noFill/>
          <a:ln/>
        </p:spPr>
        <p:txBody>
          <a:bodyPr wrap="square" lIns="0" tIns="0" rIns="0" bIns="0" rtlCol="0" anchor="t"/>
          <a:lstStyle/>
          <a:p>
            <a:pPr indent="0" marL="0">
              <a:buNone/>
            </a:pPr>
            <a:r>
              <a:rPr lang="en-US" sz="1200" dirty="0">
                <a:solidFill>
                  <a:srgbClr val="55645A"/>
                </a:solidFill>
                <a:latin typeface="Calibri" pitchFamily="34" charset="0"/>
                <a:ea typeface="Calibri" pitchFamily="34" charset="-122"/>
                <a:cs typeface="Calibri" pitchFamily="34" charset="-120"/>
              </a:rPr>
              <a:t>Gợi ý 1</a:t>
            </a:r>
            <a:endParaRPr lang="en-US" sz="1200" dirty="0"/>
          </a:p>
        </p:txBody>
      </p:sp>
      <p:sp>
        <p:nvSpPr>
          <p:cNvPr id="21" name="Text 19"/>
          <p:cNvSpPr txBox="1"/>
          <p:nvPr/>
        </p:nvSpPr>
        <p:spPr>
          <a:xfrm>
            <a:off x="960120" y="3703320"/>
            <a:ext cx="402336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Bag of Organic Bananas</a:t>
            </a:r>
            <a:endParaRPr lang="en-US" sz="2200" dirty="0"/>
          </a:p>
        </p:txBody>
      </p:sp>
      <p:sp>
        <p:nvSpPr>
          <p:cNvPr id="22" name="Text 20"/>
          <p:cNvSpPr txBox="1"/>
          <p:nvPr/>
        </p:nvSpPr>
        <p:spPr>
          <a:xfrm>
            <a:off x="4846320" y="3474720"/>
            <a:ext cx="1691640" cy="640080"/>
          </a:xfrm>
          <a:prstGeom prst="rect">
            <a:avLst/>
          </a:prstGeom>
          <a:noFill/>
          <a:ln/>
        </p:spPr>
        <p:txBody>
          <a:bodyPr wrap="square" lIns="0" tIns="0" rIns="0" bIns="0" rtlCol="0" anchor="t"/>
          <a:lstStyle/>
          <a:p>
            <a:pPr algn="r" indent="0" marL="0">
              <a:buNone/>
            </a:pPr>
            <a:r>
              <a:rPr lang="en-US" sz="3400" b="1" dirty="0">
                <a:solidFill>
                  <a:schemeClr val="accent2"/>
                </a:solidFill>
                <a:latin typeface="Cambria" pitchFamily="34" charset="0"/>
                <a:ea typeface="Cambria" pitchFamily="34" charset="-122"/>
                <a:cs typeface="Cambria" pitchFamily="34" charset="-120"/>
              </a:rPr>
              <a:t>×2,02</a:t>
            </a:r>
            <a:endParaRPr lang="en-US" sz="3400" dirty="0"/>
          </a:p>
        </p:txBody>
      </p:sp>
      <p:sp>
        <p:nvSpPr>
          <p:cNvPr id="23" name="Text 21"/>
          <p:cNvSpPr txBox="1"/>
          <p:nvPr/>
        </p:nvSpPr>
        <p:spPr>
          <a:xfrm>
            <a:off x="960120" y="4297680"/>
            <a:ext cx="557784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Trong các đơn có Organic Strawberries, 25,9% đơn mua thêm Bag of Organic Bananas, cao gấp 2,02 lần tỉ lệ mua món này nói chung.</a:t>
            </a:r>
            <a:endParaRPr lang="en-US" sz="1400" dirty="0"/>
          </a:p>
        </p:txBody>
      </p:sp>
      <p:sp>
        <p:nvSpPr>
          <p:cNvPr id="24" name="fallback-tag"/>
          <p:cNvSpPr/>
          <p:nvPr/>
        </p:nvSpPr>
        <p:spPr>
          <a:xfrm>
            <a:off x="7269480" y="3246120"/>
            <a:ext cx="4343400" cy="2286000"/>
          </a:xfrm>
          <a:prstGeom prst="roundRect">
            <a:avLst>
              <a:gd name="adj" fmla="val 2400"/>
            </a:avLst>
          </a:prstGeom>
          <a:solidFill>
            <a:srgbClr val="FFFFFF"/>
          </a:solidFill>
          <a:ln w="19050">
            <a:solidFill>
              <a:srgbClr val="8A948C"/>
            </a:solidFill>
            <a:prstDash val="dash"/>
          </a:ln>
        </p:spPr>
      </p:sp>
      <p:sp>
        <p:nvSpPr>
          <p:cNvPr id="25" name="fallback-tag-hole"/>
          <p:cNvSpPr/>
          <p:nvPr/>
        </p:nvSpPr>
        <p:spPr>
          <a:xfrm>
            <a:off x="7187184" y="4306824"/>
            <a:ext cx="164592" cy="164592"/>
          </a:xfrm>
          <a:prstGeom prst="ellipse">
            <a:avLst/>
          </a:prstGeom>
          <a:solidFill>
            <a:srgbClr val="FFFFFF"/>
          </a:solidFill>
          <a:ln w="19050">
            <a:solidFill>
              <a:srgbClr val="8A948C"/>
            </a:solidFill>
            <a:prstDash val="solid"/>
          </a:ln>
        </p:spPr>
      </p:sp>
      <p:sp>
        <p:nvSpPr>
          <p:cNvPr id="26" name="Text 24"/>
          <p:cNvSpPr txBox="1"/>
          <p:nvPr/>
        </p:nvSpPr>
        <p:spPr>
          <a:xfrm>
            <a:off x="7543800" y="3474720"/>
            <a:ext cx="38404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Không có luật nào khớp giỏ?</a:t>
            </a:r>
            <a:endParaRPr lang="en-US" sz="1800" dirty="0"/>
          </a:p>
        </p:txBody>
      </p:sp>
      <p:sp>
        <p:nvSpPr>
          <p:cNvPr id="27" name="Text 25"/>
          <p:cNvSpPr txBox="1"/>
          <p:nvPr/>
        </p:nvSpPr>
        <p:spPr>
          <a:xfrm>
            <a:off x="7543800" y="3977640"/>
            <a:ext cx="3840480" cy="128016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Bổ sung các món bán chạy chưa có trong giỏ, hiển thị viền nét đứt để không nhầm với gợi ý từ luật.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Luật mạnh nhất là các vị cùng một dòng sản phẩm</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Mức sản phẩm (mẫu 100k, support 0,2%)</a:t>
            </a:r>
            <a:endParaRPr lang="en-US" sz="1600" dirty="0"/>
          </a:p>
        </p:txBody>
      </p:sp>
      <p:sp>
        <p:nvSpPr>
          <p:cNvPr id="4" name="pair"/>
          <p:cNvSpPr/>
          <p:nvPr/>
        </p:nvSpPr>
        <p:spPr>
          <a:xfrm>
            <a:off x="685800" y="1874520"/>
            <a:ext cx="5257800" cy="731520"/>
          </a:xfrm>
          <a:prstGeom prst="roundRect">
            <a:avLst>
              <a:gd name="adj" fmla="val 7500"/>
            </a:avLst>
          </a:prstGeom>
          <a:solidFill>
            <a:srgbClr val="FFFFFF"/>
          </a:solidFill>
          <a:ln w="19050">
            <a:solidFill>
              <a:srgbClr val="1C2B22"/>
            </a:solidFill>
            <a:prstDash val="solid"/>
          </a:ln>
        </p:spPr>
      </p:sp>
      <p:sp>
        <p:nvSpPr>
          <p:cNvPr id="5" name="pair-hole"/>
          <p:cNvSpPr/>
          <p:nvPr/>
        </p:nvSpPr>
        <p:spPr>
          <a:xfrm>
            <a:off x="603504" y="2157984"/>
            <a:ext cx="164592" cy="164592"/>
          </a:xfrm>
          <a:prstGeom prst="ellipse">
            <a:avLst/>
          </a:prstGeom>
          <a:solidFill>
            <a:srgbClr val="FFFFFF"/>
          </a:solidFill>
          <a:ln w="19050">
            <a:solidFill>
              <a:srgbClr val="1C2B22"/>
            </a:solidFill>
            <a:prstDash val="solid"/>
          </a:ln>
        </p:spPr>
      </p:sp>
      <p:sp>
        <p:nvSpPr>
          <p:cNvPr id="6" name="Text 4"/>
          <p:cNvSpPr txBox="1"/>
          <p:nvPr/>
        </p:nvSpPr>
        <p:spPr>
          <a:xfrm>
            <a:off x="960120" y="1874520"/>
            <a:ext cx="374904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Non Fat Raspberry Yogurt + Icelandic Skyr Blueberry</a:t>
            </a:r>
            <a:endParaRPr lang="en-US" sz="1400" dirty="0"/>
          </a:p>
        </p:txBody>
      </p:sp>
      <p:sp>
        <p:nvSpPr>
          <p:cNvPr id="7" name="Text 5"/>
          <p:cNvSpPr txBox="1"/>
          <p:nvPr/>
        </p:nvSpPr>
        <p:spPr>
          <a:xfrm>
            <a:off x="4663440" y="1874520"/>
            <a:ext cx="1143000" cy="731520"/>
          </a:xfrm>
          <a:prstGeom prst="rect">
            <a:avLst/>
          </a:prstGeom>
          <a:noFill/>
          <a:ln/>
        </p:spPr>
        <p:txBody>
          <a:bodyPr wrap="square" lIns="0" tIns="0" rIns="0" bIns="0" rtlCol="0" anchor="ctr"/>
          <a:lstStyle/>
          <a:p>
            <a:pPr algn="r" indent="0" marL="0">
              <a:buNone/>
            </a:pPr>
            <a:r>
              <a:rPr lang="en-US" sz="2000" b="1" dirty="0">
                <a:solidFill>
                  <a:schemeClr val="accent2"/>
                </a:solidFill>
                <a:latin typeface="Cambria" pitchFamily="34" charset="0"/>
                <a:ea typeface="Cambria" pitchFamily="34" charset="-122"/>
                <a:cs typeface="Cambria" pitchFamily="34" charset="-120"/>
              </a:rPr>
              <a:t>×73,2</a:t>
            </a:r>
            <a:endParaRPr lang="en-US" sz="2000" dirty="0"/>
          </a:p>
        </p:txBody>
      </p:sp>
      <p:sp>
        <p:nvSpPr>
          <p:cNvPr id="8" name="pair"/>
          <p:cNvSpPr/>
          <p:nvPr/>
        </p:nvSpPr>
        <p:spPr>
          <a:xfrm>
            <a:off x="685800" y="2743200"/>
            <a:ext cx="5257800" cy="731520"/>
          </a:xfrm>
          <a:prstGeom prst="roundRect">
            <a:avLst>
              <a:gd name="adj" fmla="val 7500"/>
            </a:avLst>
          </a:prstGeom>
          <a:solidFill>
            <a:srgbClr val="FFFFFF"/>
          </a:solidFill>
          <a:ln w="19050">
            <a:solidFill>
              <a:srgbClr val="1C2B22"/>
            </a:solidFill>
            <a:prstDash val="solid"/>
          </a:ln>
        </p:spPr>
      </p:sp>
      <p:sp>
        <p:nvSpPr>
          <p:cNvPr id="9" name="pair-hole"/>
          <p:cNvSpPr/>
          <p:nvPr/>
        </p:nvSpPr>
        <p:spPr>
          <a:xfrm>
            <a:off x="603504" y="3026664"/>
            <a:ext cx="164592" cy="164592"/>
          </a:xfrm>
          <a:prstGeom prst="ellipse">
            <a:avLst/>
          </a:prstGeom>
          <a:solidFill>
            <a:srgbClr val="FFFFFF"/>
          </a:solidFill>
          <a:ln w="19050">
            <a:solidFill>
              <a:srgbClr val="1C2B22"/>
            </a:solidFill>
            <a:prstDash val="solid"/>
          </a:ln>
        </p:spPr>
      </p:sp>
      <p:sp>
        <p:nvSpPr>
          <p:cNvPr id="10" name="Text 8"/>
          <p:cNvSpPr txBox="1"/>
          <p:nvPr/>
        </p:nvSpPr>
        <p:spPr>
          <a:xfrm>
            <a:off x="960120" y="2743200"/>
            <a:ext cx="374904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Icelandic Skyr Blueberry + Vanilla Skyr</a:t>
            </a:r>
            <a:endParaRPr lang="en-US" sz="1400" dirty="0"/>
          </a:p>
        </p:txBody>
      </p:sp>
      <p:sp>
        <p:nvSpPr>
          <p:cNvPr id="11" name="Text 9"/>
          <p:cNvSpPr txBox="1"/>
          <p:nvPr/>
        </p:nvSpPr>
        <p:spPr>
          <a:xfrm>
            <a:off x="4663440" y="2743200"/>
            <a:ext cx="1143000" cy="731520"/>
          </a:xfrm>
          <a:prstGeom prst="rect">
            <a:avLst/>
          </a:prstGeom>
          <a:noFill/>
          <a:ln/>
        </p:spPr>
        <p:txBody>
          <a:bodyPr wrap="square" lIns="0" tIns="0" rIns="0" bIns="0" rtlCol="0" anchor="ctr"/>
          <a:lstStyle/>
          <a:p>
            <a:pPr algn="r" indent="0" marL="0">
              <a:buNone/>
            </a:pPr>
            <a:r>
              <a:rPr lang="en-US" sz="2000" b="1" dirty="0">
                <a:solidFill>
                  <a:schemeClr val="accent2"/>
                </a:solidFill>
                <a:latin typeface="Cambria" pitchFamily="34" charset="0"/>
                <a:ea typeface="Cambria" pitchFamily="34" charset="-122"/>
                <a:cs typeface="Cambria" pitchFamily="34" charset="-120"/>
              </a:rPr>
              <a:t>×56,4</a:t>
            </a:r>
            <a:endParaRPr lang="en-US" sz="2000" dirty="0"/>
          </a:p>
        </p:txBody>
      </p:sp>
      <p:sp>
        <p:nvSpPr>
          <p:cNvPr id="12" name="pair"/>
          <p:cNvSpPr/>
          <p:nvPr/>
        </p:nvSpPr>
        <p:spPr>
          <a:xfrm>
            <a:off x="685800" y="3611880"/>
            <a:ext cx="5257800" cy="731520"/>
          </a:xfrm>
          <a:prstGeom prst="roundRect">
            <a:avLst>
              <a:gd name="adj" fmla="val 7500"/>
            </a:avLst>
          </a:prstGeom>
          <a:solidFill>
            <a:srgbClr val="FFFFFF"/>
          </a:solidFill>
          <a:ln w="19050">
            <a:solidFill>
              <a:srgbClr val="1C2B22"/>
            </a:solidFill>
            <a:prstDash val="solid"/>
          </a:ln>
        </p:spPr>
      </p:sp>
      <p:sp>
        <p:nvSpPr>
          <p:cNvPr id="13" name="pair-hole"/>
          <p:cNvSpPr/>
          <p:nvPr/>
        </p:nvSpPr>
        <p:spPr>
          <a:xfrm>
            <a:off x="603504" y="3895344"/>
            <a:ext cx="164592" cy="164592"/>
          </a:xfrm>
          <a:prstGeom prst="ellipse">
            <a:avLst/>
          </a:prstGeom>
          <a:solidFill>
            <a:srgbClr val="FFFFFF"/>
          </a:solidFill>
          <a:ln w="19050">
            <a:solidFill>
              <a:srgbClr val="1C2B22"/>
            </a:solidFill>
            <a:prstDash val="solid"/>
          </a:ln>
        </p:spPr>
      </p:sp>
      <p:sp>
        <p:nvSpPr>
          <p:cNvPr id="14" name="Text 12"/>
          <p:cNvSpPr txBox="1"/>
          <p:nvPr/>
        </p:nvSpPr>
        <p:spPr>
          <a:xfrm>
            <a:off x="960120" y="3611880"/>
            <a:ext cx="374904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Total 2% Greek Yogurt Blueberry + Strawberry</a:t>
            </a:r>
            <a:endParaRPr lang="en-US" sz="1400" dirty="0"/>
          </a:p>
        </p:txBody>
      </p:sp>
      <p:sp>
        <p:nvSpPr>
          <p:cNvPr id="15" name="Text 13"/>
          <p:cNvSpPr txBox="1"/>
          <p:nvPr/>
        </p:nvSpPr>
        <p:spPr>
          <a:xfrm>
            <a:off x="4663440" y="3611880"/>
            <a:ext cx="1143000" cy="731520"/>
          </a:xfrm>
          <a:prstGeom prst="rect">
            <a:avLst/>
          </a:prstGeom>
          <a:noFill/>
          <a:ln/>
        </p:spPr>
        <p:txBody>
          <a:bodyPr wrap="square" lIns="0" tIns="0" rIns="0" bIns="0" rtlCol="0" anchor="ctr"/>
          <a:lstStyle/>
          <a:p>
            <a:pPr algn="r" indent="0" marL="0">
              <a:buNone/>
            </a:pPr>
            <a:r>
              <a:rPr lang="en-US" sz="2000" b="1" dirty="0">
                <a:solidFill>
                  <a:schemeClr val="accent2"/>
                </a:solidFill>
                <a:latin typeface="Cambria" pitchFamily="34" charset="0"/>
                <a:ea typeface="Cambria" pitchFamily="34" charset="-122"/>
                <a:cs typeface="Cambria" pitchFamily="34" charset="-120"/>
              </a:rPr>
              <a:t>×46,3</a:t>
            </a:r>
            <a:endParaRPr lang="en-US" sz="2000" dirty="0"/>
          </a:p>
        </p:txBody>
      </p:sp>
      <p:sp>
        <p:nvSpPr>
          <p:cNvPr id="16" name="pair"/>
          <p:cNvSpPr/>
          <p:nvPr/>
        </p:nvSpPr>
        <p:spPr>
          <a:xfrm>
            <a:off x="685800" y="4480560"/>
            <a:ext cx="5257800" cy="731520"/>
          </a:xfrm>
          <a:prstGeom prst="roundRect">
            <a:avLst>
              <a:gd name="adj" fmla="val 7500"/>
            </a:avLst>
          </a:prstGeom>
          <a:solidFill>
            <a:srgbClr val="FFFFFF"/>
          </a:solidFill>
          <a:ln w="19050">
            <a:solidFill>
              <a:srgbClr val="1C2B22"/>
            </a:solidFill>
            <a:prstDash val="solid"/>
          </a:ln>
        </p:spPr>
      </p:sp>
      <p:sp>
        <p:nvSpPr>
          <p:cNvPr id="17" name="pair-hole"/>
          <p:cNvSpPr/>
          <p:nvPr/>
        </p:nvSpPr>
        <p:spPr>
          <a:xfrm>
            <a:off x="603504" y="4764024"/>
            <a:ext cx="164592" cy="164592"/>
          </a:xfrm>
          <a:prstGeom prst="ellipse">
            <a:avLst/>
          </a:prstGeom>
          <a:solidFill>
            <a:srgbClr val="FFFFFF"/>
          </a:solidFill>
          <a:ln w="19050">
            <a:solidFill>
              <a:srgbClr val="1C2B22"/>
            </a:solidFill>
            <a:prstDash val="solid"/>
          </a:ln>
        </p:spPr>
      </p:sp>
      <p:sp>
        <p:nvSpPr>
          <p:cNvPr id="18" name="Text 16"/>
          <p:cNvSpPr txBox="1"/>
          <p:nvPr/>
        </p:nvSpPr>
        <p:spPr>
          <a:xfrm>
            <a:off x="960120" y="4480560"/>
            <a:ext cx="374904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Yellow Bell Pepper + Orange Bell Pepper</a:t>
            </a:r>
            <a:endParaRPr lang="en-US" sz="1400" dirty="0"/>
          </a:p>
        </p:txBody>
      </p:sp>
      <p:sp>
        <p:nvSpPr>
          <p:cNvPr id="19" name="Text 17"/>
          <p:cNvSpPr txBox="1"/>
          <p:nvPr/>
        </p:nvSpPr>
        <p:spPr>
          <a:xfrm>
            <a:off x="4663440" y="4480560"/>
            <a:ext cx="1143000" cy="731520"/>
          </a:xfrm>
          <a:prstGeom prst="rect">
            <a:avLst/>
          </a:prstGeom>
          <a:noFill/>
          <a:ln/>
        </p:spPr>
        <p:txBody>
          <a:bodyPr wrap="square" lIns="0" tIns="0" rIns="0" bIns="0" rtlCol="0" anchor="ctr"/>
          <a:lstStyle/>
          <a:p>
            <a:pPr algn="r" indent="0" marL="0">
              <a:buNone/>
            </a:pPr>
            <a:r>
              <a:rPr lang="en-US" sz="2000" b="1" dirty="0">
                <a:solidFill>
                  <a:schemeClr val="accent2"/>
                </a:solidFill>
                <a:latin typeface="Cambria" pitchFamily="34" charset="0"/>
                <a:ea typeface="Cambria" pitchFamily="34" charset="-122"/>
                <a:cs typeface="Cambria" pitchFamily="34" charset="-120"/>
              </a:rPr>
              <a:t>×21,3</a:t>
            </a:r>
            <a:endParaRPr lang="en-US" sz="2000" dirty="0"/>
          </a:p>
        </p:txBody>
      </p:sp>
      <p:sp>
        <p:nvSpPr>
          <p:cNvPr id="20" name="Text 18"/>
          <p:cNvSpPr txBox="1"/>
          <p:nvPr/>
        </p:nvSpPr>
        <p:spPr>
          <a:xfrm>
            <a:off x="548640" y="5440680"/>
            <a:ext cx="5394960" cy="64008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Khách hay mua nhiều vị cùng dòng trong một đơn: hữu ích cho trưng bày, ít giá trị khám phá.</a:t>
            </a:r>
            <a:endParaRPr lang="en-US" sz="1400" dirty="0"/>
          </a:p>
        </p:txBody>
      </p:sp>
      <p:sp>
        <p:nvSpPr>
          <p:cNvPr id="21" name="Text 19"/>
          <p:cNvSpPr txBox="1"/>
          <p:nvPr/>
        </p:nvSpPr>
        <p:spPr>
          <a:xfrm>
            <a:off x="6400800" y="1371600"/>
            <a:ext cx="521208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Mức kệ hàng (support 2%): dễ diễn giải hơn</a:t>
            </a:r>
            <a:endParaRPr lang="en-US" sz="1600" dirty="0"/>
          </a:p>
        </p:txBody>
      </p:sp>
      <p:graphicFrame>
        <p:nvGraphicFramePr>
          <p:cNvPr id="22" name="Chart 0" descr=""/>
          <p:cNvGraphicFramePr/>
          <p:nvPr/>
        </p:nvGraphicFramePr>
        <p:xfrm>
          <a:off x="6400800" y="1783080"/>
          <a:ext cx="5212080" cy="4114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Kết hợp luật vượt mốc bán chạy: Hit@5 6,17% so với 5,49%</a:t>
            </a:r>
            <a:endParaRPr lang="en-US" sz="3000" dirty="0"/>
          </a:p>
        </p:txBody>
      </p:sp>
      <p:graphicFrame>
        <p:nvGraphicFramePr>
          <p:cNvPr id="3" name="Chart 0" descr=""/>
          <p:cNvGraphicFramePr/>
          <p:nvPr/>
        </p:nvGraphicFramePr>
        <p:xfrm>
          <a:off x="548640" y="14173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4" name="stat"/>
          <p:cNvSpPr/>
          <p:nvPr/>
        </p:nvSpPr>
        <p:spPr>
          <a:xfrm>
            <a:off x="8138160" y="1417320"/>
            <a:ext cx="3474720" cy="1188720"/>
          </a:xfrm>
          <a:prstGeom prst="roundRect">
            <a:avLst>
              <a:gd name="adj" fmla="val 4615"/>
            </a:avLst>
          </a:prstGeom>
          <a:solidFill>
            <a:srgbClr val="FFFFFF"/>
          </a:solidFill>
          <a:ln w="19050">
            <a:solidFill>
              <a:srgbClr val="1C2B22"/>
            </a:solidFill>
            <a:prstDash val="solid"/>
          </a:ln>
        </p:spPr>
      </p:sp>
      <p:sp>
        <p:nvSpPr>
          <p:cNvPr id="5" name="stat-hole"/>
          <p:cNvSpPr/>
          <p:nvPr/>
        </p:nvSpPr>
        <p:spPr>
          <a:xfrm>
            <a:off x="8055864" y="1929384"/>
            <a:ext cx="164592" cy="164592"/>
          </a:xfrm>
          <a:prstGeom prst="ellipse">
            <a:avLst/>
          </a:prstGeom>
          <a:solidFill>
            <a:srgbClr val="FFFFFF"/>
          </a:solidFill>
          <a:ln w="19050">
            <a:solidFill>
              <a:srgbClr val="1C2B22"/>
            </a:solidFill>
            <a:prstDash val="solid"/>
          </a:ln>
        </p:spPr>
      </p:sp>
      <p:sp>
        <p:nvSpPr>
          <p:cNvPr id="6" name="Text 3"/>
          <p:cNvSpPr txBox="1"/>
          <p:nvPr/>
        </p:nvSpPr>
        <p:spPr>
          <a:xfrm>
            <a:off x="8412480" y="1527048"/>
            <a:ext cx="3063240" cy="5029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6,17%</a:t>
            </a:r>
            <a:endParaRPr lang="en-US" sz="3600" dirty="0"/>
          </a:p>
        </p:txBody>
      </p:sp>
      <p:sp>
        <p:nvSpPr>
          <p:cNvPr id="7" name="Text 4"/>
          <p:cNvSpPr txBox="1"/>
          <p:nvPr/>
        </p:nvSpPr>
        <p:spPr>
          <a:xfrm>
            <a:off x="8412480" y="203911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Hit@5: luật + dự phòng bán chạy</a:t>
            </a:r>
            <a:endParaRPr lang="en-US" sz="1400" dirty="0"/>
          </a:p>
        </p:txBody>
      </p:sp>
      <p:sp>
        <p:nvSpPr>
          <p:cNvPr id="8" name="stat"/>
          <p:cNvSpPr/>
          <p:nvPr/>
        </p:nvSpPr>
        <p:spPr>
          <a:xfrm>
            <a:off x="8138160" y="2788920"/>
            <a:ext cx="3474720" cy="1188720"/>
          </a:xfrm>
          <a:prstGeom prst="roundRect">
            <a:avLst>
              <a:gd name="adj" fmla="val 4615"/>
            </a:avLst>
          </a:prstGeom>
          <a:solidFill>
            <a:srgbClr val="FFFFFF"/>
          </a:solidFill>
          <a:ln w="19050">
            <a:solidFill>
              <a:srgbClr val="1C2B22"/>
            </a:solidFill>
            <a:prstDash val="solid"/>
          </a:ln>
        </p:spPr>
      </p:sp>
      <p:sp>
        <p:nvSpPr>
          <p:cNvPr id="9" name="stat-hole"/>
          <p:cNvSpPr/>
          <p:nvPr/>
        </p:nvSpPr>
        <p:spPr>
          <a:xfrm>
            <a:off x="8055864" y="3300984"/>
            <a:ext cx="164592" cy="164592"/>
          </a:xfrm>
          <a:prstGeom prst="ellipse">
            <a:avLst/>
          </a:prstGeom>
          <a:solidFill>
            <a:srgbClr val="FFFFFF"/>
          </a:solidFill>
          <a:ln w="19050">
            <a:solidFill>
              <a:srgbClr val="1C2B22"/>
            </a:solidFill>
            <a:prstDash val="solid"/>
          </a:ln>
        </p:spPr>
      </p:sp>
      <p:sp>
        <p:nvSpPr>
          <p:cNvPr id="10" name="Text 7"/>
          <p:cNvSpPr txBox="1"/>
          <p:nvPr/>
        </p:nvSpPr>
        <p:spPr>
          <a:xfrm>
            <a:off x="8412480" y="2898648"/>
            <a:ext cx="30632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5,49%</a:t>
            </a:r>
            <a:endParaRPr lang="en-US" sz="3000" dirty="0"/>
          </a:p>
        </p:txBody>
      </p:sp>
      <p:sp>
        <p:nvSpPr>
          <p:cNvPr id="11" name="Text 8"/>
          <p:cNvSpPr txBox="1"/>
          <p:nvPr/>
        </p:nvSpPr>
        <p:spPr>
          <a:xfrm>
            <a:off x="8412480" y="341071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Hit@5: chỉ món bán chạy (mốc cơ sở)</a:t>
            </a:r>
            <a:endParaRPr lang="en-US" sz="1400" dirty="0"/>
          </a:p>
        </p:txBody>
      </p:sp>
      <p:sp>
        <p:nvSpPr>
          <p:cNvPr id="12" name="stat"/>
          <p:cNvSpPr/>
          <p:nvPr/>
        </p:nvSpPr>
        <p:spPr>
          <a:xfrm>
            <a:off x="8138160" y="4160520"/>
            <a:ext cx="3474720" cy="1188720"/>
          </a:xfrm>
          <a:prstGeom prst="roundRect">
            <a:avLst>
              <a:gd name="adj" fmla="val 4615"/>
            </a:avLst>
          </a:prstGeom>
          <a:solidFill>
            <a:srgbClr val="FFFFFF"/>
          </a:solidFill>
          <a:ln w="19050">
            <a:solidFill>
              <a:srgbClr val="1C2B22"/>
            </a:solidFill>
            <a:prstDash val="solid"/>
          </a:ln>
        </p:spPr>
      </p:sp>
      <p:sp>
        <p:nvSpPr>
          <p:cNvPr id="13" name="stat-hole"/>
          <p:cNvSpPr/>
          <p:nvPr/>
        </p:nvSpPr>
        <p:spPr>
          <a:xfrm>
            <a:off x="8055864" y="4672584"/>
            <a:ext cx="164592" cy="164592"/>
          </a:xfrm>
          <a:prstGeom prst="ellipse">
            <a:avLst/>
          </a:prstGeom>
          <a:solidFill>
            <a:srgbClr val="FFFFFF"/>
          </a:solidFill>
          <a:ln w="19050">
            <a:solidFill>
              <a:srgbClr val="1C2B22"/>
            </a:solidFill>
            <a:prstDash val="solid"/>
          </a:ln>
        </p:spPr>
      </p:sp>
      <p:sp>
        <p:nvSpPr>
          <p:cNvPr id="14" name="Text 11"/>
          <p:cNvSpPr txBox="1"/>
          <p:nvPr/>
        </p:nvSpPr>
        <p:spPr>
          <a:xfrm>
            <a:off x="8412480" y="4270248"/>
            <a:ext cx="3063240" cy="50292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74,3%</a:t>
            </a:r>
            <a:endParaRPr lang="en-US" sz="3000" dirty="0"/>
          </a:p>
        </p:txBody>
      </p:sp>
      <p:sp>
        <p:nvSpPr>
          <p:cNvPr id="15" name="Text 12"/>
          <p:cNvSpPr txBox="1"/>
          <p:nvPr/>
        </p:nvSpPr>
        <p:spPr>
          <a:xfrm>
            <a:off x="8412480" y="4782312"/>
            <a:ext cx="3063240" cy="502920"/>
          </a:xfrm>
          <a:prstGeom prst="rect">
            <a:avLst/>
          </a:prstGeom>
          <a:noFill/>
          <a:ln/>
        </p:spPr>
        <p:txBody>
          <a:bodyPr wrap="square" lIns="0" tIns="0" rIns="0" bIns="0" rtlCol="0" anchor="t"/>
          <a:lstStyle/>
          <a:p>
            <a:pPr indent="0" marL="0">
              <a:buNone/>
            </a:pPr>
            <a:r>
              <a:rPr lang="en-US" sz="1400" dirty="0">
                <a:solidFill>
                  <a:srgbClr val="55645A"/>
                </a:solidFill>
                <a:latin typeface="Calibri" pitchFamily="34" charset="0"/>
                <a:ea typeface="Calibri" pitchFamily="34" charset="-122"/>
                <a:cs typeface="Calibri" pitchFamily="34" charset="-120"/>
              </a:rPr>
              <a:t>số giỏ có luật áp dụng (support 0,2%)</a:t>
            </a:r>
            <a:endParaRPr lang="en-US" sz="1400" dirty="0"/>
          </a:p>
        </p:txBody>
      </p:sp>
      <p:sp>
        <p:nvSpPr>
          <p:cNvPr id="16" name="Text 13"/>
          <p:cNvSpPr txBox="1"/>
          <p:nvPr/>
        </p:nvSpPr>
        <p:spPr>
          <a:xfrm>
            <a:off x="548640" y="5715000"/>
            <a:ext cx="11064240" cy="411480"/>
          </a:xfrm>
          <a:prstGeom prst="rect">
            <a:avLst/>
          </a:prstGeom>
          <a:noFill/>
          <a:ln/>
        </p:spPr>
        <p:txBody>
          <a:bodyPr wrap="square" lIns="0" tIns="0" rIns="0" bIns="0" rtlCol="0" anchor="t"/>
          <a:lstStyle/>
          <a:p>
            <a:pPr indent="0" marL="0">
              <a:buNone/>
            </a:pPr>
            <a:r>
              <a:rPr lang="en-US" sz="1300" dirty="0">
                <a:solidFill>
                  <a:srgbClr val="55645A"/>
                </a:solidFill>
                <a:latin typeface="Calibri" pitchFamily="34" charset="0"/>
                <a:ea typeface="Calibri" pitchFamily="34" charset="-122"/>
                <a:cs typeface="Calibri" pitchFamily="34" charset="-120"/>
              </a:rPr>
              <a:t>Cách đo: chia 80/20, mỗi giỏ kiểm tra giấu 1 món; Hit@5 = tỉ lệ giỏ có món bị giấu nằm trong 5 gợi ý.</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Demo: dashboard gợi ý mua kèm</a:t>
            </a:r>
            <a:endParaRPr lang="en-US" sz="3000" dirty="0"/>
          </a:p>
        </p:txBody>
      </p:sp>
      <p:pic>
        <p:nvPicPr>
          <p:cNvPr id="3" name="dashboard" descr="C:\Users\DELL\AppData\Local\Temp\claude\e--2026-Year-Ki-1-Nam-4-khaiPha-duLieu-apriori-vs-fpgrowth-instacart\f1a2eb5d-69cf-4f00-8c37-e240052e08b4\scratchpad\deck\img\dash_goi_y.png">    </p:cNvPr>
          <p:cNvPicPr>
            <a:picLocks noChangeAspect="1"/>
          </p:cNvPicPr>
          <p:nvPr/>
        </p:nvPicPr>
        <p:blipFill>
          <a:blip r:embed="rId1"/>
          <a:stretch>
            <a:fillRect/>
          </a:stretch>
        </p:blipFill>
        <p:spPr>
          <a:xfrm>
            <a:off x="548640" y="1371600"/>
            <a:ext cx="7863840" cy="4696460"/>
          </a:xfrm>
          <a:prstGeom prst="rect">
            <a:avLst/>
          </a:prstGeom>
        </p:spPr>
      </p:pic>
      <p:sp>
        <p:nvSpPr>
          <p:cNvPr id="4" name="demo-step"/>
          <p:cNvSpPr/>
          <p:nvPr/>
        </p:nvSpPr>
        <p:spPr>
          <a:xfrm>
            <a:off x="8778240" y="1417320"/>
            <a:ext cx="457200" cy="457200"/>
          </a:xfrm>
          <a:prstGeom prst="ellipse">
            <a:avLst/>
          </a:prstGeom>
          <a:solidFill>
            <a:schemeClr val="accent1"/>
          </a:solidFill>
          <a:ln/>
        </p:spPr>
      </p:sp>
      <p:sp>
        <p:nvSpPr>
          <p:cNvPr id="5" name="Text 2"/>
          <p:cNvSpPr txBox="1"/>
          <p:nvPr/>
        </p:nvSpPr>
        <p:spPr>
          <a:xfrm>
            <a:off x="8778240" y="1417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3"/>
          <p:cNvSpPr txBox="1"/>
          <p:nvPr/>
        </p:nvSpPr>
        <p:spPr>
          <a:xfrm>
            <a:off x="9418320" y="1399032"/>
            <a:ext cx="224028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Chọn nhanh một món, xem các nhãn gợi ý kèm lift và lời giải thích</a:t>
            </a:r>
            <a:endParaRPr lang="en-US" sz="1400" dirty="0"/>
          </a:p>
        </p:txBody>
      </p:sp>
      <p:sp>
        <p:nvSpPr>
          <p:cNvPr id="7" name="demo-step"/>
          <p:cNvSpPr/>
          <p:nvPr/>
        </p:nvSpPr>
        <p:spPr>
          <a:xfrm>
            <a:off x="8778240" y="2606040"/>
            <a:ext cx="457200" cy="457200"/>
          </a:xfrm>
          <a:prstGeom prst="ellipse">
            <a:avLst/>
          </a:prstGeom>
          <a:solidFill>
            <a:schemeClr val="accent1"/>
          </a:solidFill>
          <a:ln/>
        </p:spPr>
      </p:sp>
      <p:sp>
        <p:nvSpPr>
          <p:cNvPr id="8" name="Text 5"/>
          <p:cNvSpPr txBox="1"/>
          <p:nvPr/>
        </p:nvSpPr>
        <p:spPr>
          <a:xfrm>
            <a:off x="877824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9" name="Text 6"/>
          <p:cNvSpPr txBox="1"/>
          <p:nvPr/>
        </p:nvSpPr>
        <p:spPr>
          <a:xfrm>
            <a:off x="9418320" y="2587752"/>
            <a:ext cx="224028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Bấm “Lấy một đơn hàng thật và giấu 1 món”, xem hệ thống có đoán ra không</a:t>
            </a:r>
            <a:endParaRPr lang="en-US" sz="1400" dirty="0"/>
          </a:p>
        </p:txBody>
      </p:sp>
      <p:sp>
        <p:nvSpPr>
          <p:cNvPr id="10" name="demo-step"/>
          <p:cNvSpPr/>
          <p:nvPr/>
        </p:nvSpPr>
        <p:spPr>
          <a:xfrm>
            <a:off x="8778240" y="3794760"/>
            <a:ext cx="457200" cy="457200"/>
          </a:xfrm>
          <a:prstGeom prst="ellipse">
            <a:avLst/>
          </a:prstGeom>
          <a:solidFill>
            <a:schemeClr val="accent1"/>
          </a:solidFill>
          <a:ln/>
        </p:spPr>
      </p:sp>
      <p:sp>
        <p:nvSpPr>
          <p:cNvPr id="11" name="Text 8"/>
          <p:cNvSpPr txBox="1"/>
          <p:nvPr/>
        </p:nvSpPr>
        <p:spPr>
          <a:xfrm>
            <a:off x="877824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2" name="Text 9"/>
          <p:cNvSpPr txBox="1"/>
          <p:nvPr/>
        </p:nvSpPr>
        <p:spPr>
          <a:xfrm>
            <a:off x="9418320" y="3776472"/>
            <a:ext cx="2240280" cy="10515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Mở tab Đánh giá, chạy holdout với ngưỡng đang chọn</a:t>
            </a:r>
            <a:endParaRPr lang="en-US" sz="1400" dirty="0"/>
          </a:p>
        </p:txBody>
      </p:sp>
      <p:sp>
        <p:nvSpPr>
          <p:cNvPr id="13" name="Text 10"/>
          <p:cNvSpPr txBox="1"/>
          <p:nvPr/>
        </p:nvSpPr>
        <p:spPr>
          <a:xfrm>
            <a:off x="8778240" y="5120640"/>
            <a:ext cx="2880360" cy="365760"/>
          </a:xfrm>
          <a:prstGeom prst="rect">
            <a:avLst/>
          </a:prstGeom>
          <a:noFill/>
          <a:ln/>
        </p:spPr>
        <p:txBody>
          <a:bodyPr wrap="square" lIns="0" tIns="0" rIns="0" bIns="0" rtlCol="0" anchor="t"/>
          <a:lstStyle/>
          <a:p>
            <a:pPr indent="0" marL="0">
              <a:buNone/>
            </a:pPr>
            <a:r>
              <a:rPr lang="en-US" sz="1200" dirty="0">
                <a:solidFill>
                  <a:srgbClr val="55645A"/>
                </a:solidFill>
                <a:latin typeface="Courier New" pitchFamily="34" charset="0"/>
                <a:ea typeface="Courier New" pitchFamily="34" charset="-122"/>
                <a:cs typeface="Courier New" pitchFamily="34" charset="-120"/>
              </a:rPr>
              <a:t>streamlit run dashboard/app.py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5645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6868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Kết luận</a:t>
            </a:r>
            <a:endParaRPr lang="en-US" sz="3600" dirty="0"/>
          </a:p>
        </p:txBody>
      </p:sp>
      <p:sp>
        <p:nvSpPr>
          <p:cNvPr id="3" name="conclusion"/>
          <p:cNvSpPr/>
          <p:nvPr/>
        </p:nvSpPr>
        <p:spPr>
          <a:xfrm>
            <a:off x="731520" y="1737360"/>
            <a:ext cx="3337560" cy="3383280"/>
          </a:xfrm>
          <a:prstGeom prst="roundRect">
            <a:avLst>
              <a:gd name="adj" fmla="val 1644"/>
            </a:avLst>
          </a:prstGeom>
          <a:solidFill>
            <a:srgbClr val="FFFFFF"/>
          </a:solidFill>
          <a:ln w="19050">
            <a:solidFill>
              <a:srgbClr val="FFFFFF"/>
            </a:solidFill>
            <a:prstDash val="solid"/>
          </a:ln>
        </p:spPr>
      </p:sp>
      <p:sp>
        <p:nvSpPr>
          <p:cNvPr id="4" name="conclusion-hole"/>
          <p:cNvSpPr/>
          <p:nvPr/>
        </p:nvSpPr>
        <p:spPr>
          <a:xfrm>
            <a:off x="649224" y="3346704"/>
            <a:ext cx="164592" cy="164592"/>
          </a:xfrm>
          <a:prstGeom prst="ellipse">
            <a:avLst/>
          </a:prstGeom>
          <a:solidFill>
            <a:srgbClr val="2F6B42"/>
          </a:solidFill>
          <a:ln w="19050">
            <a:solidFill>
              <a:srgbClr val="FFFFFF"/>
            </a:solidFill>
            <a:prstDash val="solid"/>
          </a:ln>
        </p:spPr>
      </p:sp>
      <p:sp>
        <p:nvSpPr>
          <p:cNvPr id="5" name="Text 3"/>
          <p:cNvSpPr txBox="1"/>
          <p:nvPr/>
        </p:nvSpPr>
        <p:spPr>
          <a:xfrm>
            <a:off x="1005840" y="1965960"/>
            <a:ext cx="288036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Đạt được</a:t>
            </a:r>
            <a:endParaRPr lang="en-US" sz="2000" dirty="0"/>
          </a:p>
        </p:txBody>
      </p:sp>
      <p:sp>
        <p:nvSpPr>
          <p:cNvPr id="6" name="Text 4"/>
          <p:cNvSpPr txBox="1"/>
          <p:nvPr/>
        </p:nvSpPr>
        <p:spPr>
          <a:xfrm>
            <a:off x="1005840" y="2560320"/>
            <a:ext cx="288036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FP-Growth tự cài đặt khớp 100% với mlxtend</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Luật tìm ra nhóm sản phẩm gắn kết mạnh</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Luật + dự phòng: Hit@5 6,17% so với 5,49%</a:t>
            </a:r>
            <a:endParaRPr lang="en-US" sz="1500" dirty="0"/>
          </a:p>
        </p:txBody>
      </p:sp>
      <p:sp>
        <p:nvSpPr>
          <p:cNvPr id="7" name="conclusion"/>
          <p:cNvSpPr/>
          <p:nvPr/>
        </p:nvSpPr>
        <p:spPr>
          <a:xfrm>
            <a:off x="4434840" y="1737360"/>
            <a:ext cx="3337560" cy="3383280"/>
          </a:xfrm>
          <a:prstGeom prst="roundRect">
            <a:avLst>
              <a:gd name="adj" fmla="val 1644"/>
            </a:avLst>
          </a:prstGeom>
          <a:solidFill>
            <a:srgbClr val="FFFFFF"/>
          </a:solidFill>
          <a:ln w="19050">
            <a:solidFill>
              <a:srgbClr val="FFFFFF"/>
            </a:solidFill>
            <a:prstDash val="solid"/>
          </a:ln>
        </p:spPr>
      </p:sp>
      <p:sp>
        <p:nvSpPr>
          <p:cNvPr id="8" name="conclusion-hole"/>
          <p:cNvSpPr/>
          <p:nvPr/>
        </p:nvSpPr>
        <p:spPr>
          <a:xfrm>
            <a:off x="4352544" y="3346704"/>
            <a:ext cx="164592" cy="164592"/>
          </a:xfrm>
          <a:prstGeom prst="ellipse">
            <a:avLst/>
          </a:prstGeom>
          <a:solidFill>
            <a:srgbClr val="2F6B42"/>
          </a:solidFill>
          <a:ln w="19050">
            <a:solidFill>
              <a:srgbClr val="FFFFFF"/>
            </a:solidFill>
            <a:prstDash val="solid"/>
          </a:ln>
        </p:spPr>
      </p:sp>
      <p:sp>
        <p:nvSpPr>
          <p:cNvPr id="9" name="Text 7"/>
          <p:cNvSpPr txBox="1"/>
          <p:nvPr/>
        </p:nvSpPr>
        <p:spPr>
          <a:xfrm>
            <a:off x="4709160" y="1965960"/>
            <a:ext cx="288036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Hạn chế</a:t>
            </a:r>
            <a:endParaRPr lang="en-US" sz="2000" dirty="0"/>
          </a:p>
        </p:txBody>
      </p:sp>
      <p:sp>
        <p:nvSpPr>
          <p:cNvPr id="10" name="Text 8"/>
          <p:cNvSpPr txBox="1"/>
          <p:nvPr/>
        </p:nvSpPr>
        <p:spPr>
          <a:xfrm>
            <a:off x="4709160" y="2560320"/>
            <a:ext cx="288036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Dưới 0,5% sản phẩm có luật do đuôi dài</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Mức cải thiện so với món bán chạy còn nhỏ</a:t>
            </a:r>
            <a:endParaRPr lang="en-US" sz="1500" dirty="0"/>
          </a:p>
        </p:txBody>
      </p:sp>
      <p:sp>
        <p:nvSpPr>
          <p:cNvPr id="11" name="conclusion"/>
          <p:cNvSpPr/>
          <p:nvPr/>
        </p:nvSpPr>
        <p:spPr>
          <a:xfrm>
            <a:off x="8138160" y="1737360"/>
            <a:ext cx="3337560" cy="3383280"/>
          </a:xfrm>
          <a:prstGeom prst="roundRect">
            <a:avLst>
              <a:gd name="adj" fmla="val 1644"/>
            </a:avLst>
          </a:prstGeom>
          <a:solidFill>
            <a:srgbClr val="FFFFFF"/>
          </a:solidFill>
          <a:ln w="19050">
            <a:solidFill>
              <a:srgbClr val="FFFFFF"/>
            </a:solidFill>
            <a:prstDash val="solid"/>
          </a:ln>
        </p:spPr>
      </p:sp>
      <p:sp>
        <p:nvSpPr>
          <p:cNvPr id="12" name="conclusion-hole"/>
          <p:cNvSpPr/>
          <p:nvPr/>
        </p:nvSpPr>
        <p:spPr>
          <a:xfrm>
            <a:off x="8055864" y="3346704"/>
            <a:ext cx="164592" cy="164592"/>
          </a:xfrm>
          <a:prstGeom prst="ellipse">
            <a:avLst/>
          </a:prstGeom>
          <a:solidFill>
            <a:srgbClr val="2F6B42"/>
          </a:solidFill>
          <a:ln w="19050">
            <a:solidFill>
              <a:srgbClr val="FFFFFF"/>
            </a:solidFill>
            <a:prstDash val="solid"/>
          </a:ln>
        </p:spPr>
      </p:sp>
      <p:sp>
        <p:nvSpPr>
          <p:cNvPr id="13" name="Text 11"/>
          <p:cNvSpPr txBox="1"/>
          <p:nvPr/>
        </p:nvSpPr>
        <p:spPr>
          <a:xfrm>
            <a:off x="8412480" y="1965960"/>
            <a:ext cx="288036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Hướng phát triển</a:t>
            </a:r>
            <a:endParaRPr lang="en-US" sz="2000" dirty="0"/>
          </a:p>
        </p:txBody>
      </p:sp>
      <p:sp>
        <p:nvSpPr>
          <p:cNvPr id="14" name="Text 12"/>
          <p:cNvSpPr txBox="1"/>
          <p:nvPr/>
        </p:nvSpPr>
        <p:spPr>
          <a:xfrm>
            <a:off x="8412480" y="2560320"/>
            <a:ext cx="288036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Tăng tốc để khai phá toàn bộ dữ liệu, hạ ngưỡng support</a:t>
            </a:r>
            <a:endParaRPr lang="en-US" sz="1500" dirty="0"/>
          </a:p>
          <a:p>
            <a:pPr marL="342900" indent="-3429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Gom biến thể sản phẩm, thêm lịch sử mua của từng khách</a:t>
            </a:r>
            <a:endParaRPr lang="en-US" sz="1500" dirty="0"/>
          </a:p>
        </p:txBody>
      </p:sp>
    </p:spTree>
  </p:cSld>
  <p:clrMapOvr>
    <a:masterClrMapping/>
  </p:clrMapOvr>
</p:sld>
</file>

<file path=ppt/theme/theme1.xml><?xml version="1.0" encoding="utf-8"?>
<a:theme xmlns:a="http://schemas.openxmlformats.org/drawingml/2006/main" name="Quay rau cu">
  <a:themeElements>
    <a:clrScheme name="Quay rau cu">
      <a:dk1>
        <a:srgbClr val="1C2B22"/>
      </a:dk1>
      <a:lt1>
        <a:srgbClr val="FFFFFF"/>
      </a:lt1>
      <a:dk2>
        <a:srgbClr val="2F6B42"/>
      </a:dk2>
      <a:lt2>
        <a:srgbClr val="EEF2EA"/>
      </a:lt2>
      <a:accent1>
        <a:srgbClr val="2F6B42"/>
      </a:accent1>
      <a:accent2>
        <a:srgbClr val="E2711D"/>
      </a:accent2>
      <a:accent3>
        <a:srgbClr val="7E2E58"/>
      </a:accent3>
      <a:accent4>
        <a:srgbClr val="8A948C"/>
      </a:accent4>
      <a:accent5>
        <a:srgbClr val="B7C9B0"/>
      </a:accent5>
      <a:accent6>
        <a:srgbClr val="D9A441"/>
      </a:accent6>
      <a:hlink>
        <a:srgbClr val="2F6B42"/>
      </a:hlink>
      <a:folHlink>
        <a:srgbClr val="7E2E58"/>
      </a:folHlink>
    </a:clrScheme>
    <a:fontScheme name="Quay rau c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Gợi ý sản phẩm mua kèm bằng FP-Growth</dc:title>
  <dc:subject>PptxGenJS Presentation</dc:subject>
  <dc:creator>PptxGenJS</dc:creator>
  <cp:lastModifiedBy>PptxGenJS</cp:lastModifiedBy>
  <cp:revision>1</cp:revision>
  <dcterms:created xsi:type="dcterms:W3CDTF">2026-10-20T10:33:15Z</dcterms:created>
  <dcterms:modified xsi:type="dcterms:W3CDTF">2026-10-20T10:33:15Z</dcterms:modified>
</cp:coreProperties>
</file>