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936" y="1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1821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và các bạn. Nhóm 8 trình bày đề tài khai phá luật kết hợp và xây dựng hệ thống gợi ý bán kèm sản phẩm bằng thuật toán FP-Growth tự cài đặt. Nhãn bên phải là một gợi ý thật mà hệ thống tìm ra: khách đã chọn ớt chuông vàng thì nên gợi ý thêm ớt chuông cam.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Bài toán của nhóm là phân tích giỏ hàng: khi khách đã cho sản phẩm A vào giỏ thì nên gợi ý thêm sản phẩm B nào. Hệ thống đi qua năm bước: từ dữ liệu Instacart, tiền xử lý, khai phá bằng FP-Growth tự cài đặt, sinh luật kết hợp rồi xếp hạng gợi ý. Phần em trình bày là bước tiền xử lý: làm sao biến dữ liệu thô thành các giỏ hàng để FP-Growth khai phá được.</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mười dòng đầu của bảng trung tâm. Dữ liệu ở dạng dài: mỗi dòng chỉ là một cặp đơn hàng – sản phẩm, nên đơn số 2 trải trên 9 dòng. Thuật toán cần mỗi giỏ hàng là một dòng, nên phải gom lại. Bảng này có 32,4 triệu dòng, khai phá toàn bộ là quá nặng. Ngoài ra 4,88% đơn chỉ có một món, không thể tạo luật mua kèm; 1.258 sản phẩm thuộc kệ 'missing', tức chưa phân loại. Điểm tốt là dữ liệu rất sạch: không có giá trị rỗng, không có dòng trùng. Vậy vấn đề không phải làm sạch, mà là đổi dạng và thu nhỏ.</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bước giải quyết một vấn đề ở slide trước. Bước 1 chỉ đọc các cột cần thiết với kiểu số nhỏ để tiết kiệm bộ nhớ. Bước 2 gắn tên sản phẩm và tên kệ để luật đọc được. Bước 3 loại 156.748 đơn chỉ có một món. Bước 4 là điểm đáng chú ý: lấy mẫu lồng nhau – xáo trộn danh sách đơn một lần với seed 42 rồi cắt 10 nghìn, 50 nghìn, 100 nghìn đơn đầu, nên mẫu nhỏ nằm trọn trong mẫu lớn. Nhờ vậy khi tăng quy mô, khác biệt chỉ đến từ số lượng đơn. Bước 5 gom các dòng thành giỏ ở hai mức: sản phẩm và kệ hàng; ở mức kệ thì bỏ nhãn 'missing' và bỏ kệ trùng trong cùng đơn. Bước 6 lưu ra file Parquet để nạp nhanh khi khai phá.</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Sau khi có dữ liệu, nhóm dùng thuật toán FP-Growth tự cài đặt. Ý tưởng gồm ba bước. Lần duyệt thứ nhất đếm số giỏ chứa từng món, bỏ các món không đạt ngưỡng và sắp xếp các món còn lại theo độ phổ biến giảm dần. Lần duyệt thứ hai chèn từng giỏ vào một cây gọi là FP-Tree: các giỏ có chung phần đầu sẽ đi chung một nhánh, nên dữ liệu được nén lại. Cuối cùng, với từng món, thuật toán dựng một cây con nhỏ hơn rồi khai phá đệ quy, theo kiểu chia để trị. Lý do nhóm chọn FP-Growth: dữ liệu Instacart có rất nhiều sản phẩm. Ở ngưỡng 0,5%, Apriori phải sinh và đếm tới 35.245 cặp ứng viên chỉ riêng ở mức 2, còn FP-Growth không sinh ứng viên nào, và hai thuật toán cho cùng một kết quả.</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ví dụ năm giỏ hàng trong báo cáo, với ngưỡng 40%, tức một món phải có trong ít nhất 2 giỏ. Lần duyệt thứ nhất cho thứ tự F: Sữa 4, Bánh mì 4, Bơ 3, Trứng 2; cả bốn món đều đạt ngưỡng. Lần duyệt thứ hai chèn từng giỏ theo thứ tự F vào cây. T1 tạo nhánh Sữa – Bánh mì – Bơ. T3 và T5 cũng bắt đầu bằng Sữa – Bánh mì nên chỉ tăng bộ đếm trên nhánh có sẵn, vì vậy nút Bánh mì dưới Sữa có đếm 3. T2 không có Sữa nên mở nhánh mới Bánh mì – Bơ. Kết quả: 13 lần xuất hiện món trong 5 giỏ được nén còn 7 nút.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11535" cy="1097280"/>
          </a:xfrm>
          <a:prstGeom prst="rect">
            <a:avLst/>
          </a:prstGeom>
          <a:noFill/>
          <a:ln/>
        </p:spPr>
        <p:txBody>
          <a:bodyPr wrap="square" rtlCol="0"/>
          <a:lstStyle>
            <a:lvl1pPr marL="0" indent="0" algn="l">
              <a:buNone/>
              <a:defRPr lang="en-US" sz="3200" b="1" dirty="0">
                <a:solidFill>
                  <a:schemeClr val="tx1"/>
                </a:solidFill>
              </a:defRPr>
            </a:lvl1pPr>
          </a:lstStyle>
          <a:p>
            <a:pPr marL="0" indent="0" algn="l">
              <a:buNone/>
            </a:pPr>
            <a:endParaRPr lang="en-US" sz="3200" dirty="0"/>
          </a:p>
        </p:txBody>
      </p:sp>
      <p:sp>
        <p:nvSpPr>
          <p:cNvPr id="3" name="Text 0"/>
          <p:cNvSpPr/>
          <p:nvPr/>
        </p:nvSpPr>
        <p:spPr>
          <a:xfrm>
            <a:off x="640080" y="6355080"/>
            <a:ext cx="7315200" cy="274320"/>
          </a:xfrm>
          <a:prstGeom prst="rect">
            <a:avLst/>
          </a:prstGeom>
          <a:noFill/>
          <a:ln/>
        </p:spPr>
        <p:txBody>
          <a:bodyPr wrap="square" lIns="0" tIns="0" rIns="0" bIns="0" rtlCol="0" anchor="ctr"/>
          <a:lstStyle/>
          <a:p>
            <a:pPr marL="0" indent="0">
              <a:buNone/>
            </a:pPr>
            <a:r>
              <a:rPr lang="en-US" sz="1200" dirty="0">
                <a:solidFill>
                  <a:schemeClr val="tx2"/>
                </a:solidFill>
              </a:rPr>
              <a:t>Nhóm 8 · Khai phá dữ liệu · Gợi ý mua kèm bằng FP-Growth</a:t>
            </a:r>
            <a:endParaRPr lang="en-US" sz="12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ên đề tài"/>
          <p:cNvSpPr txBox="1"/>
          <p:nvPr/>
        </p:nvSpPr>
        <p:spPr>
          <a:xfrm>
            <a:off x="708660" y="822960"/>
            <a:ext cx="6675120" cy="2194560"/>
          </a:xfrm>
          <a:prstGeom prst="rect">
            <a:avLst/>
          </a:prstGeom>
          <a:noFill/>
          <a:ln/>
        </p:spPr>
        <p:txBody>
          <a:bodyPr wrap="square" lIns="0" tIns="0" rIns="0" bIns="0" rtlCol="0" anchor="t"/>
          <a:lstStyle/>
          <a:p>
            <a:pPr marL="0" indent="0">
              <a:buNone/>
            </a:pPr>
            <a:r>
              <a:rPr lang="en-US" sz="3600" b="1" dirty="0">
                <a:solidFill>
                  <a:schemeClr val="tx1"/>
                </a:solidFill>
              </a:rPr>
              <a:t>Khai phá luật kết hợp và xây dựng hệ thống gợi ý bán kèm sản phẩm bằng FP-Growth</a:t>
            </a:r>
            <a:endParaRPr lang="en-US" sz="3600" dirty="0"/>
          </a:p>
        </p:txBody>
      </p:sp>
      <p:sp>
        <p:nvSpPr>
          <p:cNvPr id="4" name="Text 2"/>
          <p:cNvSpPr txBox="1"/>
          <p:nvPr/>
        </p:nvSpPr>
        <p:spPr>
          <a:xfrm>
            <a:off x="640080" y="3429000"/>
            <a:ext cx="6675120" cy="1737360"/>
          </a:xfrm>
          <a:prstGeom prst="rect">
            <a:avLst/>
          </a:prstGeom>
          <a:noFill/>
          <a:ln/>
        </p:spPr>
        <p:txBody>
          <a:bodyPr wrap="square" lIns="0" tIns="0" rIns="0" bIns="0" rtlCol="0" anchor="t"/>
          <a:lstStyle/>
          <a:p>
            <a:pPr marL="0" indent="0">
              <a:spcAft>
                <a:spcPts val="600"/>
              </a:spcAft>
              <a:buNone/>
            </a:pPr>
            <a:r>
              <a:rPr lang="en-US" sz="1800" dirty="0">
                <a:solidFill>
                  <a:schemeClr val="tx2"/>
                </a:solidFill>
              </a:rPr>
              <a:t>Giảng viên hướng dẫn: </a:t>
            </a:r>
            <a:r>
              <a:rPr lang="en-US" sz="1800" dirty="0">
                <a:solidFill>
                  <a:schemeClr val="tx1"/>
                </a:solidFill>
              </a:rPr>
              <a:t>TS. Trịnh Thành</a:t>
            </a:r>
            <a:endParaRPr lang="en-US" sz="1800" dirty="0"/>
          </a:p>
          <a:p>
            <a:pPr marL="0" indent="0">
              <a:spcAft>
                <a:spcPts val="600"/>
              </a:spcAft>
              <a:buNone/>
            </a:pPr>
            <a:r>
              <a:rPr lang="en-US" sz="1800" dirty="0">
                <a:solidFill>
                  <a:schemeClr val="tx2"/>
                </a:solidFill>
              </a:rPr>
              <a:t>Thành viên: </a:t>
            </a:r>
            <a:r>
              <a:rPr lang="en-US" sz="1800" dirty="0">
                <a:solidFill>
                  <a:schemeClr val="tx1"/>
                </a:solidFill>
              </a:rPr>
              <a:t>Hoàng Văn Dũng – 23010438</a:t>
            </a:r>
            <a:endParaRPr lang="en-US" sz="1800" dirty="0"/>
          </a:p>
          <a:p>
            <a:pPr marL="0" indent="0">
              <a:spcAft>
                <a:spcPts val="600"/>
              </a:spcAft>
              <a:buNone/>
            </a:pPr>
            <a:r>
              <a:rPr lang="vi-VN" sz="1800" dirty="0">
                <a:solidFill>
                  <a:schemeClr val="tx1"/>
                </a:solidFill>
              </a:rPr>
              <a:t>	     </a:t>
            </a:r>
            <a:r>
              <a:rPr lang="en-US" sz="1800" dirty="0">
                <a:solidFill>
                  <a:schemeClr val="tx1"/>
                </a:solidFill>
              </a:rPr>
              <a:t>Lê Đức Vũ – 23010608</a:t>
            </a:r>
            <a:endParaRPr lang="en-US" sz="1800" dirty="0"/>
          </a:p>
        </p:txBody>
      </p:sp>
      <p:sp>
        <p:nvSpPr>
          <p:cNvPr id="5" name="Text 3"/>
          <p:cNvSpPr txBox="1"/>
          <p:nvPr/>
        </p:nvSpPr>
        <p:spPr>
          <a:xfrm>
            <a:off x="640080" y="6172200"/>
            <a:ext cx="4572000" cy="320040"/>
          </a:xfrm>
          <a:prstGeom prst="rect">
            <a:avLst/>
          </a:prstGeom>
          <a:noFill/>
          <a:ln/>
        </p:spPr>
        <p:txBody>
          <a:bodyPr wrap="square" lIns="0" tIns="0" rIns="0" bIns="0" rtlCol="0" anchor="ctr"/>
          <a:lstStyle/>
          <a:p>
            <a:pPr marL="0" indent="0">
              <a:buNone/>
            </a:pPr>
            <a:r>
              <a:rPr lang="en-US" sz="1400" dirty="0">
                <a:solidFill>
                  <a:schemeClr val="tx2"/>
                </a:solidFill>
              </a:rPr>
              <a:t>Hà Nội, tháng 10/2026</a:t>
            </a:r>
            <a:endParaRPr lang="en-US" sz="1400" dirty="0"/>
          </a:p>
        </p:txBody>
      </p:sp>
      <p:sp>
        <p:nvSpPr>
          <p:cNvPr id="6" name="Nhãn gợi ý minh họa"/>
          <p:cNvSpPr/>
          <p:nvPr/>
        </p:nvSpPr>
        <p:spPr>
          <a:xfrm>
            <a:off x="7818120" y="1828800"/>
            <a:ext cx="3730752" cy="3017520"/>
          </a:xfrm>
          <a:prstGeom prst="roundRect">
            <a:avLst>
              <a:gd name="adj" fmla="val 1515"/>
            </a:avLst>
          </a:prstGeom>
          <a:solidFill>
            <a:srgbClr val="FFFFFF"/>
          </a:solidFill>
          <a:ln w="19050">
            <a:solidFill>
              <a:schemeClr val="tx1"/>
            </a:solidFill>
            <a:prstDash val="solid"/>
          </a:ln>
        </p:spPr>
        <p:txBody>
          <a:bodyPr/>
          <a:lstStyle/>
          <a:p>
            <a:endParaRPr lang="en-US"/>
          </a:p>
        </p:txBody>
      </p:sp>
      <p:sp>
        <p:nvSpPr>
          <p:cNvPr id="7" name="Lỗ xỏ dây"/>
          <p:cNvSpPr/>
          <p:nvPr/>
        </p:nvSpPr>
        <p:spPr>
          <a:xfrm>
            <a:off x="7744968" y="3264408"/>
            <a:ext cx="146304" cy="146304"/>
          </a:xfrm>
          <a:prstGeom prst="ellipse">
            <a:avLst/>
          </a:prstGeom>
          <a:solidFill>
            <a:schemeClr val="bg1"/>
          </a:solidFill>
          <a:ln w="19050">
            <a:solidFill>
              <a:schemeClr val="tx1"/>
            </a:solidFill>
            <a:prstDash val="solid"/>
          </a:ln>
        </p:spPr>
        <p:txBody>
          <a:bodyPr/>
          <a:lstStyle/>
          <a:p>
            <a:endParaRPr lang="en-US"/>
          </a:p>
        </p:txBody>
      </p:sp>
      <p:sp>
        <p:nvSpPr>
          <p:cNvPr id="8" name="Text 6"/>
          <p:cNvSpPr txBox="1"/>
          <p:nvPr/>
        </p:nvSpPr>
        <p:spPr>
          <a:xfrm>
            <a:off x="8138160" y="2103120"/>
            <a:ext cx="3182112" cy="1828800"/>
          </a:xfrm>
          <a:prstGeom prst="rect">
            <a:avLst/>
          </a:prstGeom>
          <a:noFill/>
          <a:ln/>
        </p:spPr>
        <p:txBody>
          <a:bodyPr wrap="square" lIns="0" tIns="0" rIns="0" bIns="0" rtlCol="0" anchor="t"/>
          <a:lstStyle/>
          <a:p>
            <a:pPr marL="0" indent="0">
              <a:buNone/>
            </a:pPr>
            <a:r>
              <a:rPr lang="en-US" sz="1400" b="1" kern="0" spc="100" dirty="0">
                <a:solidFill>
                  <a:schemeClr val="tx2"/>
                </a:solidFill>
              </a:rPr>
              <a:t>KHÁCH ĐÃ CHỌN</a:t>
            </a:r>
            <a:endParaRPr lang="en-US" sz="1400" dirty="0"/>
          </a:p>
          <a:p>
            <a:pPr marL="0" indent="0">
              <a:buNone/>
            </a:pPr>
            <a:r>
              <a:rPr lang="en-US" sz="2400" b="1" dirty="0">
                <a:solidFill>
                  <a:schemeClr val="tx1"/>
                </a:solidFill>
              </a:rPr>
              <a:t>Yellow Bell Pepper</a:t>
            </a:r>
            <a:endParaRPr lang="en-US" sz="1400" dirty="0"/>
          </a:p>
          <a:p>
            <a:pPr marL="0" indent="0">
              <a:buNone/>
            </a:pPr>
            <a:r>
              <a:rPr lang="en-US" sz="1000" dirty="0">
                <a:solidFill>
                  <a:srgbClr val="000000"/>
                </a:solidFill>
              </a:rPr>
              <a:t> </a:t>
            </a:r>
            <a:endParaRPr lang="en-US" sz="1400" dirty="0"/>
          </a:p>
          <a:p>
            <a:pPr marL="0" indent="0">
              <a:buNone/>
            </a:pPr>
            <a:r>
              <a:rPr lang="en-US" sz="1400" b="1" kern="0" spc="100" dirty="0">
                <a:solidFill>
                  <a:schemeClr val="tx2"/>
                </a:solidFill>
              </a:rPr>
              <a:t>GỢI Ý MUA KÈM</a:t>
            </a:r>
            <a:endParaRPr lang="en-US" sz="1400" dirty="0"/>
          </a:p>
          <a:p>
            <a:pPr marL="0" indent="0">
              <a:buNone/>
            </a:pPr>
            <a:r>
              <a:rPr lang="en-US" sz="2400" b="1" dirty="0">
                <a:solidFill>
                  <a:schemeClr val="accent1"/>
                </a:solidFill>
              </a:rPr>
              <a:t>Orange Bell Pepper</a:t>
            </a:r>
            <a:endParaRPr lang="en-US" sz="1400" dirty="0"/>
          </a:p>
        </p:txBody>
      </p:sp>
      <p:sp>
        <p:nvSpPr>
          <p:cNvPr id="9" name="Shape 7"/>
          <p:cNvSpPr/>
          <p:nvPr/>
        </p:nvSpPr>
        <p:spPr>
          <a:xfrm>
            <a:off x="8138160" y="3977640"/>
            <a:ext cx="3090672" cy="0"/>
          </a:xfrm>
          <a:prstGeom prst="line">
            <a:avLst/>
          </a:prstGeom>
          <a:noFill/>
          <a:ln w="12700">
            <a:solidFill>
              <a:schemeClr val="accent4"/>
            </a:solidFill>
            <a:prstDash val="solid"/>
          </a:ln>
        </p:spPr>
        <p:txBody>
          <a:bodyPr/>
          <a:lstStyle/>
          <a:p>
            <a:endParaRPr lang="en-US"/>
          </a:p>
        </p:txBody>
      </p:sp>
      <p:sp>
        <p:nvSpPr>
          <p:cNvPr id="10" name="Text 8"/>
          <p:cNvSpPr txBox="1"/>
          <p:nvPr/>
        </p:nvSpPr>
        <p:spPr>
          <a:xfrm>
            <a:off x="8138160" y="4114800"/>
            <a:ext cx="3182112" cy="457200"/>
          </a:xfrm>
          <a:prstGeom prst="rect">
            <a:avLst/>
          </a:prstGeom>
          <a:noFill/>
          <a:ln/>
        </p:spPr>
        <p:txBody>
          <a:bodyPr wrap="square" lIns="0" tIns="0" rIns="0" bIns="0" rtlCol="0" anchor="ctr"/>
          <a:lstStyle/>
          <a:p>
            <a:pPr marL="0" indent="0">
              <a:buNone/>
            </a:pPr>
            <a:r>
              <a:rPr lang="en-US" sz="1800" dirty="0">
                <a:solidFill>
                  <a:schemeClr val="tx2"/>
                </a:solidFill>
              </a:rPr>
              <a:t>lift </a:t>
            </a:r>
            <a:r>
              <a:rPr lang="en-US" sz="1800" b="1" dirty="0">
                <a:solidFill>
                  <a:schemeClr val="tx1"/>
                </a:solidFill>
              </a:rPr>
              <a:t>21,3</a:t>
            </a:r>
            <a:r>
              <a:rPr lang="en-US" sz="1800" dirty="0">
                <a:solidFill>
                  <a:schemeClr val="tx2"/>
                </a:solidFill>
              </a:rPr>
              <a:t>    confidence </a:t>
            </a:r>
            <a:r>
              <a:rPr lang="en-US" sz="1800" b="1" dirty="0">
                <a:solidFill>
                  <a:schemeClr val="tx1"/>
                </a:solidFill>
              </a:rPr>
              <a:t>26,9%</a:t>
            </a:r>
            <a:endParaRPr lang="en-US" sz="1800" dirty="0"/>
          </a:p>
        </p:txBody>
      </p:sp>
      <p:sp>
        <p:nvSpPr>
          <p:cNvPr id="11" name="Text 9"/>
          <p:cNvSpPr txBox="1"/>
          <p:nvPr/>
        </p:nvSpPr>
        <p:spPr>
          <a:xfrm>
            <a:off x="7818120" y="4983480"/>
            <a:ext cx="3730752" cy="320040"/>
          </a:xfrm>
          <a:prstGeom prst="rect">
            <a:avLst/>
          </a:prstGeom>
          <a:noFill/>
          <a:ln/>
        </p:spPr>
        <p:txBody>
          <a:bodyPr wrap="square" lIns="0" tIns="0" rIns="0" bIns="0" rtlCol="0" anchor="ctr"/>
          <a:lstStyle/>
          <a:p>
            <a:pPr marL="0" indent="0">
              <a:buNone/>
            </a:pPr>
            <a:r>
              <a:rPr lang="en-US" sz="1400" dirty="0">
                <a:solidFill>
                  <a:schemeClr val="tx2"/>
                </a:solidFill>
              </a:rPr>
              <a:t>Luật thật từ mẫu 100.000 đơn Instacart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11535" cy="1097280"/>
          </a:xfrm>
          <a:prstGeom prst="rect">
            <a:avLst/>
          </a:prstGeom>
          <a:noFill/>
          <a:ln/>
        </p:spPr>
        <p:txBody>
          <a:bodyPr wrap="square" lIns="0" tIns="0" rIns="0" bIns="0" rtlCol="0" anchor="t"/>
          <a:lstStyle/>
          <a:p>
            <a:pPr marL="0" indent="0" algn="l">
              <a:buNone/>
            </a:pPr>
            <a:r>
              <a:rPr lang="en-US" sz="3200" b="1" dirty="0">
                <a:solidFill>
                  <a:schemeClr val="tx1"/>
                </a:solidFill>
              </a:rPr>
              <a:t>Khi khách chọn A, hệ thống gợi ý B dựa trên lịch sử hơn 3 triệu đơn hàng</a:t>
            </a:r>
            <a:endParaRPr lang="en-US" sz="3200" dirty="0"/>
          </a:p>
        </p:txBody>
      </p:sp>
      <p:sp>
        <p:nvSpPr>
          <p:cNvPr id="3" name="Text 1"/>
          <p:cNvSpPr txBox="1"/>
          <p:nvPr/>
        </p:nvSpPr>
        <p:spPr>
          <a:xfrm>
            <a:off x="640080" y="1783080"/>
            <a:ext cx="10911535" cy="548640"/>
          </a:xfrm>
          <a:prstGeom prst="rect">
            <a:avLst/>
          </a:prstGeom>
          <a:noFill/>
          <a:ln/>
        </p:spPr>
        <p:txBody>
          <a:bodyPr wrap="square" lIns="0" tIns="0" rIns="0" bIns="0" rtlCol="0" anchor="ctr"/>
          <a:lstStyle/>
          <a:p>
            <a:pPr marL="0" indent="0">
              <a:buNone/>
            </a:pPr>
            <a:r>
              <a:rPr lang="en-US" sz="2400" dirty="0">
                <a:solidFill>
                  <a:schemeClr val="tx2"/>
                </a:solidFill>
              </a:rPr>
              <a:t>Câu hỏi nghiệp vụ: </a:t>
            </a:r>
            <a:r>
              <a:rPr lang="en-US" sz="2400" b="1" dirty="0">
                <a:solidFill>
                  <a:schemeClr val="tx1"/>
                </a:solidFill>
              </a:rPr>
              <a:t>khách đã cho A vào giỏ, nên gợi ý thêm B nào?</a:t>
            </a:r>
            <a:endParaRPr lang="en-US" sz="2400" dirty="0"/>
          </a:p>
        </p:txBody>
      </p:sp>
      <p:sp>
        <p:nvSpPr>
          <p:cNvPr id="4" name="Bước 1"/>
          <p:cNvSpPr/>
          <p:nvPr/>
        </p:nvSpPr>
        <p:spPr>
          <a:xfrm>
            <a:off x="640080" y="2971800"/>
            <a:ext cx="1965960" cy="1325880"/>
          </a:xfrm>
          <a:prstGeom prst="rect">
            <a:avLst/>
          </a:prstGeom>
          <a:solidFill>
            <a:schemeClr val="bg1"/>
          </a:solidFill>
          <a:ln w="12700">
            <a:solidFill>
              <a:schemeClr val="tx2"/>
            </a:solidFill>
            <a:prstDash val="solid"/>
          </a:ln>
        </p:spPr>
        <p:txBody>
          <a:bodyPr/>
          <a:lstStyle/>
          <a:p>
            <a:endParaRPr lang="en-US"/>
          </a:p>
        </p:txBody>
      </p:sp>
      <p:sp>
        <p:nvSpPr>
          <p:cNvPr id="5" name="Text 3"/>
          <p:cNvSpPr txBox="1"/>
          <p:nvPr/>
        </p:nvSpPr>
        <p:spPr>
          <a:xfrm>
            <a:off x="685800" y="2971800"/>
            <a:ext cx="1874520" cy="1325880"/>
          </a:xfrm>
          <a:prstGeom prst="rect">
            <a:avLst/>
          </a:prstGeom>
          <a:noFill/>
          <a:ln/>
        </p:spPr>
        <p:txBody>
          <a:bodyPr wrap="square" lIns="0" tIns="0" rIns="0" bIns="0" rtlCol="0" anchor="ctr"/>
          <a:lstStyle/>
          <a:p>
            <a:pPr marL="0" indent="0" algn="ctr">
              <a:buNone/>
            </a:pPr>
            <a:r>
              <a:rPr lang="en-US" sz="2200" b="1" dirty="0">
                <a:solidFill>
                  <a:schemeClr val="tx1"/>
                </a:solidFill>
              </a:rPr>
              <a:t>Dữ liệu</a:t>
            </a:r>
            <a:endParaRPr lang="en-US" sz="2200" dirty="0"/>
          </a:p>
          <a:p>
            <a:pPr marL="0" indent="0" algn="ctr">
              <a:buNone/>
            </a:pPr>
            <a:r>
              <a:rPr lang="en-US" sz="2200" b="1" dirty="0">
                <a:solidFill>
                  <a:schemeClr val="tx1"/>
                </a:solidFill>
              </a:rPr>
              <a:t>Instacart</a:t>
            </a:r>
            <a:endParaRPr lang="en-US" sz="2200" dirty="0"/>
          </a:p>
        </p:txBody>
      </p:sp>
      <p:sp>
        <p:nvSpPr>
          <p:cNvPr id="6" name="Mũi tên 1"/>
          <p:cNvSpPr/>
          <p:nvPr/>
        </p:nvSpPr>
        <p:spPr>
          <a:xfrm>
            <a:off x="2660904" y="3634740"/>
            <a:ext cx="160706" cy="0"/>
          </a:xfrm>
          <a:prstGeom prst="line">
            <a:avLst/>
          </a:prstGeom>
          <a:noFill/>
          <a:ln w="19050">
            <a:solidFill>
              <a:schemeClr val="tx2"/>
            </a:solidFill>
            <a:prstDash val="solid"/>
            <a:tailEnd type="triangle"/>
          </a:ln>
        </p:spPr>
        <p:txBody>
          <a:bodyPr/>
          <a:lstStyle/>
          <a:p>
            <a:endParaRPr lang="en-US"/>
          </a:p>
        </p:txBody>
      </p:sp>
      <p:sp>
        <p:nvSpPr>
          <p:cNvPr id="7" name="Bước đang trình bày"/>
          <p:cNvSpPr/>
          <p:nvPr/>
        </p:nvSpPr>
        <p:spPr>
          <a:xfrm>
            <a:off x="2876474" y="2971800"/>
            <a:ext cx="1965960" cy="1325880"/>
          </a:xfrm>
          <a:prstGeom prst="roundRect">
            <a:avLst>
              <a:gd name="adj" fmla="val 3448"/>
            </a:avLst>
          </a:prstGeom>
          <a:solidFill>
            <a:srgbClr val="FFFFFF"/>
          </a:solidFill>
          <a:ln w="28575">
            <a:solidFill>
              <a:schemeClr val="accent2"/>
            </a:solidFill>
            <a:prstDash val="solid"/>
          </a:ln>
        </p:spPr>
        <p:txBody>
          <a:bodyPr/>
          <a:lstStyle/>
          <a:p>
            <a:endParaRPr lang="en-US"/>
          </a:p>
        </p:txBody>
      </p:sp>
      <p:sp>
        <p:nvSpPr>
          <p:cNvPr id="8" name="Lỗ xỏ dây"/>
          <p:cNvSpPr/>
          <p:nvPr/>
        </p:nvSpPr>
        <p:spPr>
          <a:xfrm>
            <a:off x="2803322" y="3561588"/>
            <a:ext cx="146304" cy="146304"/>
          </a:xfrm>
          <a:prstGeom prst="ellipse">
            <a:avLst/>
          </a:prstGeom>
          <a:solidFill>
            <a:schemeClr val="bg1"/>
          </a:solidFill>
          <a:ln w="28575">
            <a:solidFill>
              <a:schemeClr val="accent2"/>
            </a:solidFill>
            <a:prstDash val="solid"/>
          </a:ln>
        </p:spPr>
        <p:txBody>
          <a:bodyPr/>
          <a:lstStyle/>
          <a:p>
            <a:endParaRPr lang="en-US"/>
          </a:p>
        </p:txBody>
      </p:sp>
      <p:sp>
        <p:nvSpPr>
          <p:cNvPr id="9" name="Text 7"/>
          <p:cNvSpPr txBox="1"/>
          <p:nvPr/>
        </p:nvSpPr>
        <p:spPr>
          <a:xfrm>
            <a:off x="2922194" y="2971800"/>
            <a:ext cx="1874520" cy="1325880"/>
          </a:xfrm>
          <a:prstGeom prst="rect">
            <a:avLst/>
          </a:prstGeom>
          <a:noFill/>
          <a:ln/>
        </p:spPr>
        <p:txBody>
          <a:bodyPr wrap="square" lIns="0" tIns="0" rIns="0" bIns="0" rtlCol="0" anchor="ctr"/>
          <a:lstStyle/>
          <a:p>
            <a:pPr marL="0" indent="0" algn="ctr">
              <a:buNone/>
            </a:pPr>
            <a:r>
              <a:rPr lang="en-US" sz="2200" b="1" dirty="0">
                <a:solidFill>
                  <a:schemeClr val="tx1"/>
                </a:solidFill>
              </a:rPr>
              <a:t>Tiền xử lý</a:t>
            </a:r>
            <a:endParaRPr lang="en-US" sz="2200" dirty="0"/>
          </a:p>
        </p:txBody>
      </p:sp>
      <p:sp>
        <p:nvSpPr>
          <p:cNvPr id="10" name="Mũi tên 2"/>
          <p:cNvSpPr/>
          <p:nvPr/>
        </p:nvSpPr>
        <p:spPr>
          <a:xfrm>
            <a:off x="4897298" y="3634740"/>
            <a:ext cx="160706" cy="0"/>
          </a:xfrm>
          <a:prstGeom prst="line">
            <a:avLst/>
          </a:prstGeom>
          <a:noFill/>
          <a:ln w="19050">
            <a:solidFill>
              <a:schemeClr val="tx2"/>
            </a:solidFill>
            <a:prstDash val="solid"/>
            <a:tailEnd type="triangle"/>
          </a:ln>
        </p:spPr>
        <p:txBody>
          <a:bodyPr/>
          <a:lstStyle/>
          <a:p>
            <a:endParaRPr lang="en-US"/>
          </a:p>
        </p:txBody>
      </p:sp>
      <p:sp>
        <p:nvSpPr>
          <p:cNvPr id="11" name="Bước 3"/>
          <p:cNvSpPr/>
          <p:nvPr/>
        </p:nvSpPr>
        <p:spPr>
          <a:xfrm>
            <a:off x="5112868" y="2971800"/>
            <a:ext cx="1965960" cy="1325880"/>
          </a:xfrm>
          <a:prstGeom prst="rect">
            <a:avLst/>
          </a:prstGeom>
          <a:solidFill>
            <a:schemeClr val="bg1"/>
          </a:solidFill>
          <a:ln w="12700">
            <a:solidFill>
              <a:schemeClr val="tx2"/>
            </a:solidFill>
            <a:prstDash val="solid"/>
          </a:ln>
        </p:spPr>
        <p:txBody>
          <a:bodyPr/>
          <a:lstStyle/>
          <a:p>
            <a:endParaRPr lang="en-US"/>
          </a:p>
        </p:txBody>
      </p:sp>
      <p:sp>
        <p:nvSpPr>
          <p:cNvPr id="12" name="Text 10"/>
          <p:cNvSpPr txBox="1"/>
          <p:nvPr/>
        </p:nvSpPr>
        <p:spPr>
          <a:xfrm>
            <a:off x="5158588" y="2971800"/>
            <a:ext cx="1874520" cy="1325880"/>
          </a:xfrm>
          <a:prstGeom prst="rect">
            <a:avLst/>
          </a:prstGeom>
          <a:noFill/>
          <a:ln/>
        </p:spPr>
        <p:txBody>
          <a:bodyPr wrap="square" lIns="0" tIns="0" rIns="0" bIns="0" rtlCol="0" anchor="ctr"/>
          <a:lstStyle/>
          <a:p>
            <a:pPr marL="0" indent="0" algn="ctr">
              <a:buNone/>
            </a:pPr>
            <a:r>
              <a:rPr lang="en-US" sz="2200" b="1" dirty="0">
                <a:solidFill>
                  <a:schemeClr val="tx1"/>
                </a:solidFill>
              </a:rPr>
              <a:t>FP-Growth</a:t>
            </a:r>
            <a:endParaRPr lang="en-US" sz="2200" dirty="0"/>
          </a:p>
          <a:p>
            <a:pPr marL="0" indent="0" algn="ctr">
              <a:buNone/>
            </a:pPr>
            <a:r>
              <a:rPr lang="en-US" sz="2200" b="1" dirty="0">
                <a:solidFill>
                  <a:schemeClr val="tx1"/>
                </a:solidFill>
              </a:rPr>
              <a:t>tự cài đặt</a:t>
            </a:r>
            <a:endParaRPr lang="en-US" sz="2200" dirty="0"/>
          </a:p>
        </p:txBody>
      </p:sp>
      <p:sp>
        <p:nvSpPr>
          <p:cNvPr id="13" name="Mũi tên 3"/>
          <p:cNvSpPr/>
          <p:nvPr/>
        </p:nvSpPr>
        <p:spPr>
          <a:xfrm>
            <a:off x="7133692" y="3634740"/>
            <a:ext cx="160706" cy="0"/>
          </a:xfrm>
          <a:prstGeom prst="line">
            <a:avLst/>
          </a:prstGeom>
          <a:noFill/>
          <a:ln w="19050">
            <a:solidFill>
              <a:schemeClr val="tx2"/>
            </a:solidFill>
            <a:prstDash val="solid"/>
            <a:tailEnd type="triangle"/>
          </a:ln>
        </p:spPr>
        <p:txBody>
          <a:bodyPr/>
          <a:lstStyle/>
          <a:p>
            <a:endParaRPr lang="en-US"/>
          </a:p>
        </p:txBody>
      </p:sp>
      <p:sp>
        <p:nvSpPr>
          <p:cNvPr id="14" name="Bước 4"/>
          <p:cNvSpPr/>
          <p:nvPr/>
        </p:nvSpPr>
        <p:spPr>
          <a:xfrm>
            <a:off x="7349261" y="2971800"/>
            <a:ext cx="1965960" cy="1325880"/>
          </a:xfrm>
          <a:prstGeom prst="rect">
            <a:avLst/>
          </a:prstGeom>
          <a:solidFill>
            <a:schemeClr val="bg1"/>
          </a:solidFill>
          <a:ln w="12700">
            <a:solidFill>
              <a:schemeClr val="tx2"/>
            </a:solidFill>
            <a:prstDash val="solid"/>
          </a:ln>
        </p:spPr>
        <p:txBody>
          <a:bodyPr/>
          <a:lstStyle/>
          <a:p>
            <a:endParaRPr lang="en-US"/>
          </a:p>
        </p:txBody>
      </p:sp>
      <p:sp>
        <p:nvSpPr>
          <p:cNvPr id="15" name="Text 13"/>
          <p:cNvSpPr txBox="1"/>
          <p:nvPr/>
        </p:nvSpPr>
        <p:spPr>
          <a:xfrm>
            <a:off x="7394981" y="2971800"/>
            <a:ext cx="1874520" cy="1325880"/>
          </a:xfrm>
          <a:prstGeom prst="rect">
            <a:avLst/>
          </a:prstGeom>
          <a:noFill/>
          <a:ln/>
        </p:spPr>
        <p:txBody>
          <a:bodyPr wrap="square" lIns="0" tIns="0" rIns="0" bIns="0" rtlCol="0" anchor="ctr"/>
          <a:lstStyle/>
          <a:p>
            <a:pPr marL="0" indent="0" algn="ctr">
              <a:buNone/>
            </a:pPr>
            <a:r>
              <a:rPr lang="en-US" sz="2200" b="1" dirty="0">
                <a:solidFill>
                  <a:schemeClr val="tx1"/>
                </a:solidFill>
              </a:rPr>
              <a:t>Luật</a:t>
            </a:r>
            <a:endParaRPr lang="en-US" sz="2200" dirty="0"/>
          </a:p>
          <a:p>
            <a:pPr marL="0" indent="0" algn="ctr">
              <a:buNone/>
            </a:pPr>
            <a:r>
              <a:rPr lang="en-US" sz="2200" b="1" dirty="0">
                <a:solidFill>
                  <a:schemeClr val="tx1"/>
                </a:solidFill>
              </a:rPr>
              <a:t>kết hợp</a:t>
            </a:r>
            <a:endParaRPr lang="en-US" sz="2200" dirty="0"/>
          </a:p>
        </p:txBody>
      </p:sp>
      <p:sp>
        <p:nvSpPr>
          <p:cNvPr id="16" name="Mũi tên 4"/>
          <p:cNvSpPr/>
          <p:nvPr/>
        </p:nvSpPr>
        <p:spPr>
          <a:xfrm>
            <a:off x="9370085" y="3634740"/>
            <a:ext cx="160706" cy="0"/>
          </a:xfrm>
          <a:prstGeom prst="line">
            <a:avLst/>
          </a:prstGeom>
          <a:noFill/>
          <a:ln w="19050">
            <a:solidFill>
              <a:schemeClr val="tx2"/>
            </a:solidFill>
            <a:prstDash val="solid"/>
            <a:tailEnd type="triangle"/>
          </a:ln>
        </p:spPr>
        <p:txBody>
          <a:bodyPr/>
          <a:lstStyle/>
          <a:p>
            <a:endParaRPr lang="en-US"/>
          </a:p>
        </p:txBody>
      </p:sp>
      <p:sp>
        <p:nvSpPr>
          <p:cNvPr id="17" name="Bước 5"/>
          <p:cNvSpPr/>
          <p:nvPr/>
        </p:nvSpPr>
        <p:spPr>
          <a:xfrm>
            <a:off x="9585655" y="2971800"/>
            <a:ext cx="1965960" cy="1325880"/>
          </a:xfrm>
          <a:prstGeom prst="rect">
            <a:avLst/>
          </a:prstGeom>
          <a:solidFill>
            <a:schemeClr val="bg1"/>
          </a:solidFill>
          <a:ln w="12700">
            <a:solidFill>
              <a:schemeClr val="tx2"/>
            </a:solidFill>
            <a:prstDash val="solid"/>
          </a:ln>
        </p:spPr>
        <p:txBody>
          <a:bodyPr/>
          <a:lstStyle/>
          <a:p>
            <a:endParaRPr lang="en-US"/>
          </a:p>
        </p:txBody>
      </p:sp>
      <p:sp>
        <p:nvSpPr>
          <p:cNvPr id="18" name="Text 16"/>
          <p:cNvSpPr txBox="1"/>
          <p:nvPr/>
        </p:nvSpPr>
        <p:spPr>
          <a:xfrm>
            <a:off x="9631375" y="2971800"/>
            <a:ext cx="1874520" cy="1325880"/>
          </a:xfrm>
          <a:prstGeom prst="rect">
            <a:avLst/>
          </a:prstGeom>
          <a:noFill/>
          <a:ln/>
        </p:spPr>
        <p:txBody>
          <a:bodyPr wrap="square" lIns="0" tIns="0" rIns="0" bIns="0" rtlCol="0" anchor="ctr"/>
          <a:lstStyle/>
          <a:p>
            <a:pPr marL="0" indent="0" algn="ctr">
              <a:buNone/>
            </a:pPr>
            <a:r>
              <a:rPr lang="en-US" sz="2200" b="1" dirty="0">
                <a:solidFill>
                  <a:schemeClr val="tx1"/>
                </a:solidFill>
              </a:rPr>
              <a:t>Gợi ý</a:t>
            </a:r>
            <a:endParaRPr lang="en-US" sz="2200" dirty="0"/>
          </a:p>
          <a:p>
            <a:pPr marL="0" indent="0" algn="ctr">
              <a:buNone/>
            </a:pPr>
            <a:r>
              <a:rPr lang="en-US" sz="2200" b="1" dirty="0">
                <a:solidFill>
                  <a:schemeClr val="tx1"/>
                </a:solidFill>
              </a:rPr>
              <a:t>mua kèm</a:t>
            </a:r>
            <a:endParaRPr lang="en-US" sz="2200" dirty="0"/>
          </a:p>
        </p:txBody>
      </p:sp>
      <p:sp>
        <p:nvSpPr>
          <p:cNvPr id="20" name="Text 18"/>
          <p:cNvSpPr txBox="1"/>
          <p:nvPr/>
        </p:nvSpPr>
        <p:spPr>
          <a:xfrm>
            <a:off x="640080" y="5577840"/>
            <a:ext cx="10911535" cy="365760"/>
          </a:xfrm>
          <a:prstGeom prst="rect">
            <a:avLst/>
          </a:prstGeom>
          <a:noFill/>
          <a:ln/>
        </p:spPr>
        <p:txBody>
          <a:bodyPr wrap="square" lIns="0" tIns="0" rIns="0" bIns="0" rtlCol="0" anchor="ctr"/>
          <a:lstStyle/>
          <a:p>
            <a:pPr marL="0" indent="0">
              <a:buNone/>
            </a:pPr>
            <a:r>
              <a:rPr lang="en-US" sz="1800" dirty="0">
                <a:solidFill>
                  <a:schemeClr val="tx2"/>
                </a:solidFill>
              </a:rPr>
              <a:t>Instacart Market Basket Analysis (Kaggle): 3,4 triệu đơn hàng · 49.688 sản phẩm · 134 kệ hàng</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11535" cy="1097280"/>
          </a:xfrm>
          <a:prstGeom prst="rect">
            <a:avLst/>
          </a:prstGeom>
          <a:noFill/>
          <a:ln/>
        </p:spPr>
        <p:txBody>
          <a:bodyPr wrap="square" lIns="0" tIns="0" rIns="0" bIns="0" rtlCol="0" anchor="t"/>
          <a:lstStyle/>
          <a:p>
            <a:pPr marL="0" indent="0" algn="l">
              <a:buNone/>
            </a:pPr>
            <a:r>
              <a:rPr lang="en-US" sz="3200" b="1" dirty="0">
                <a:solidFill>
                  <a:schemeClr val="tx1"/>
                </a:solidFill>
              </a:rPr>
              <a:t>Dữ liệu Instacart sạch nhưng sai dạng và quá lớn để khai phá trực tiếp</a:t>
            </a:r>
            <a:endParaRPr lang="en-US" sz="3200" dirty="0"/>
          </a:p>
        </p:txBody>
      </p:sp>
      <p:graphicFrame>
        <p:nvGraphicFramePr>
          <p:cNvPr id="4" name="Trích order_products__prior.csv"/>
          <p:cNvGraphicFramePr>
            <a:graphicFrameLocks noGrp="1"/>
          </p:cNvGraphicFramePr>
          <p:nvPr>
            <p:extLst>
              <p:ext uri="{D42A27DB-BD31-4B8C-83A1-F6EECF244321}">
                <p14:modId xmlns:p14="http://schemas.microsoft.com/office/powerpoint/2010/main" val="1579011935"/>
              </p:ext>
            </p:extLst>
          </p:nvPr>
        </p:nvGraphicFramePr>
        <p:xfrm>
          <a:off x="640080" y="1783080"/>
          <a:ext cx="3108960" cy="4023360"/>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365760">
                <a:tc>
                  <a:txBody>
                    <a:bodyPr/>
                    <a:lstStyle/>
                    <a:p>
                      <a:pPr marL="0" indent="0">
                        <a:buNone/>
                      </a:pPr>
                      <a:r>
                        <a:rPr lang="en-US" sz="1800" b="1" dirty="0">
                          <a:solidFill>
                            <a:schemeClr val="tx2"/>
                          </a:solidFill>
                          <a:latin typeface="Courier New" pitchFamily="34" charset="0"/>
                          <a:ea typeface="Courier New" pitchFamily="34" charset="-122"/>
                          <a:cs typeface="Courier New" pitchFamily="34" charset="-120"/>
                        </a:rPr>
                        <a:t>order_id</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12700" cap="flat" cmpd="sng" algn="ctr">
                      <a:solidFill>
                        <a:srgbClr val="1C2B22"/>
                      </a:solidFill>
                      <a:prstDash val="solid"/>
                      <a:round/>
                      <a:headEnd type="none" w="med" len="med"/>
                      <a:tailEnd type="none" w="med" len="med"/>
                    </a:lnB>
                  </a:tcPr>
                </a:tc>
                <a:tc>
                  <a:txBody>
                    <a:bodyPr/>
                    <a:lstStyle/>
                    <a:p>
                      <a:pPr marL="0" indent="0">
                        <a:buNone/>
                      </a:pPr>
                      <a:r>
                        <a:rPr lang="en-US" sz="1800" b="1" dirty="0">
                          <a:solidFill>
                            <a:schemeClr val="tx2"/>
                          </a:solidFill>
                          <a:latin typeface="Courier New" pitchFamily="34" charset="0"/>
                          <a:ea typeface="Courier New" pitchFamily="34" charset="-122"/>
                          <a:cs typeface="Courier New" pitchFamily="34" charset="-120"/>
                        </a:rPr>
                        <a:t>product_id</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0" cap="flat" cmpd="sng" algn="ctr">
                      <a:noFill/>
                    </a:lnT>
                    <a:lnB w="12700" cap="flat" cmpd="sng" algn="ctr">
                      <a:solidFill>
                        <a:srgbClr val="1C2B22"/>
                      </a:solidFill>
                      <a:prstDash val="solid"/>
                      <a:round/>
                      <a:headEnd type="none" w="med" len="med"/>
                      <a:tailEnd type="none" w="med" len="med"/>
                    </a:lnB>
                  </a:tcPr>
                </a:tc>
                <a:extLst>
                  <a:ext uri="{0D108BD9-81ED-4DB2-BD59-A6C34878D82A}">
                    <a16:rowId xmlns:a16="http://schemas.microsoft.com/office/drawing/2014/main" val="10000"/>
                  </a:ext>
                </a:extLst>
              </a:tr>
              <a:tr h="365760">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2</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12700" cap="flat" cmpd="sng" algn="ctr">
                      <a:solidFill>
                        <a:srgbClr val="1C2B2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33120</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12700" cap="flat" cmpd="sng" algn="ctr">
                      <a:solidFill>
                        <a:srgbClr val="1C2B2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2</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28985</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2</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9327</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3"/>
                  </a:ext>
                </a:extLst>
              </a:tr>
              <a:tr h="365760">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2</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45918</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4"/>
                  </a:ext>
                </a:extLst>
              </a:tr>
              <a:tr h="365760">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2</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30035</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5"/>
                  </a:ext>
                </a:extLst>
              </a:tr>
              <a:tr h="365760">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2</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17794</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6"/>
                  </a:ext>
                </a:extLst>
              </a:tr>
              <a:tr h="365760">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2</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40141</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7"/>
                  </a:ext>
                </a:extLst>
              </a:tr>
              <a:tr h="365760">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2</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1819</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8"/>
                  </a:ext>
                </a:extLst>
              </a:tr>
              <a:tr h="365760">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2</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lgn="r">
                        <a:buNone/>
                      </a:pPr>
                      <a:r>
                        <a:rPr lang="en-US" sz="1800" dirty="0">
                          <a:solidFill>
                            <a:schemeClr val="tx1"/>
                          </a:solidFill>
                          <a:latin typeface="Courier New" pitchFamily="34" charset="0"/>
                          <a:ea typeface="Courier New" pitchFamily="34" charset="-122"/>
                          <a:cs typeface="Courier New" pitchFamily="34" charset="-120"/>
                        </a:rPr>
                        <a:t>43668</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9"/>
                  </a:ext>
                </a:extLst>
              </a:tr>
              <a:tr h="365760">
                <a:tc>
                  <a:txBody>
                    <a:bodyPr/>
                    <a:lstStyle/>
                    <a:p>
                      <a:pPr marL="0" indent="0" algn="r">
                        <a:buNone/>
                      </a:pPr>
                      <a:r>
                        <a:rPr lang="en-US" sz="1800" dirty="0">
                          <a:solidFill>
                            <a:schemeClr val="tx2"/>
                          </a:solidFill>
                          <a:latin typeface="Courier New" pitchFamily="34" charset="0"/>
                          <a:ea typeface="Courier New" pitchFamily="34" charset="-122"/>
                          <a:cs typeface="Courier New" pitchFamily="34" charset="-120"/>
                        </a:rPr>
                        <a:t>3</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lgn="r">
                        <a:buNone/>
                      </a:pPr>
                      <a:r>
                        <a:rPr lang="en-US" sz="1800" dirty="0">
                          <a:solidFill>
                            <a:schemeClr val="tx2"/>
                          </a:solidFill>
                          <a:latin typeface="Courier New" pitchFamily="34" charset="0"/>
                          <a:ea typeface="Courier New" pitchFamily="34" charset="-122"/>
                          <a:cs typeface="Courier New" pitchFamily="34" charset="-120"/>
                        </a:rPr>
                        <a:t>33754</a:t>
                      </a:r>
                      <a:endParaRPr lang="en-US" sz="1800" dirty="0">
                        <a:latin typeface="Courier New" charset="0"/>
                        <a:ea typeface="Courier New" charset="0"/>
                        <a:cs typeface="Courier New" charset="0"/>
                      </a:endParaRPr>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10"/>
                  </a:ext>
                </a:extLst>
              </a:tr>
            </a:tbl>
          </a:graphicData>
        </a:graphic>
      </p:graphicFrame>
      <p:sp>
        <p:nvSpPr>
          <p:cNvPr id="3" name="Ngoặc đơn hàng"/>
          <p:cNvSpPr/>
          <p:nvPr/>
        </p:nvSpPr>
        <p:spPr>
          <a:xfrm>
            <a:off x="3886200" y="2194560"/>
            <a:ext cx="0" cy="3200400"/>
          </a:xfrm>
          <a:prstGeom prst="line">
            <a:avLst/>
          </a:prstGeom>
          <a:noFill/>
          <a:ln w="28575">
            <a:solidFill>
              <a:schemeClr val="accent2"/>
            </a:solidFill>
            <a:prstDash val="solid"/>
          </a:ln>
        </p:spPr>
        <p:txBody>
          <a:bodyPr/>
          <a:lstStyle/>
          <a:p>
            <a:endParaRPr lang="en-US"/>
          </a:p>
        </p:txBody>
      </p:sp>
      <p:sp>
        <p:nvSpPr>
          <p:cNvPr id="5" name="Shape 2"/>
          <p:cNvSpPr/>
          <p:nvPr/>
        </p:nvSpPr>
        <p:spPr>
          <a:xfrm>
            <a:off x="3776472" y="2194560"/>
            <a:ext cx="109728" cy="0"/>
          </a:xfrm>
          <a:prstGeom prst="line">
            <a:avLst/>
          </a:prstGeom>
          <a:noFill/>
          <a:ln w="28575">
            <a:solidFill>
              <a:schemeClr val="accent2"/>
            </a:solidFill>
            <a:prstDash val="solid"/>
          </a:ln>
        </p:spPr>
        <p:txBody>
          <a:bodyPr/>
          <a:lstStyle/>
          <a:p>
            <a:endParaRPr lang="en-US"/>
          </a:p>
        </p:txBody>
      </p:sp>
      <p:sp>
        <p:nvSpPr>
          <p:cNvPr id="6" name="Shape 3"/>
          <p:cNvSpPr/>
          <p:nvPr/>
        </p:nvSpPr>
        <p:spPr>
          <a:xfrm>
            <a:off x="3776472" y="5394960"/>
            <a:ext cx="109728" cy="0"/>
          </a:xfrm>
          <a:prstGeom prst="line">
            <a:avLst/>
          </a:prstGeom>
          <a:noFill/>
          <a:ln w="28575">
            <a:solidFill>
              <a:schemeClr val="accent2"/>
            </a:solidFill>
            <a:prstDash val="solid"/>
          </a:ln>
        </p:spPr>
        <p:txBody>
          <a:bodyPr/>
          <a:lstStyle/>
          <a:p>
            <a:endParaRPr lang="en-US"/>
          </a:p>
        </p:txBody>
      </p:sp>
      <p:sp>
        <p:nvSpPr>
          <p:cNvPr id="7" name="Text 4"/>
          <p:cNvSpPr txBox="1"/>
          <p:nvPr/>
        </p:nvSpPr>
        <p:spPr>
          <a:xfrm>
            <a:off x="4023360" y="3383280"/>
            <a:ext cx="1280160" cy="822960"/>
          </a:xfrm>
          <a:prstGeom prst="rect">
            <a:avLst/>
          </a:prstGeom>
          <a:noFill/>
          <a:ln/>
        </p:spPr>
        <p:txBody>
          <a:bodyPr wrap="square" lIns="0" tIns="0" rIns="0" bIns="0" rtlCol="0" anchor="ctr"/>
          <a:lstStyle/>
          <a:p>
            <a:pPr marL="0" indent="0">
              <a:buNone/>
            </a:pPr>
            <a:r>
              <a:rPr lang="en-US" sz="2400" b="1" dirty="0">
                <a:solidFill>
                  <a:schemeClr val="accent2"/>
                </a:solidFill>
              </a:rPr>
              <a:t>1 đơn</a:t>
            </a:r>
            <a:endParaRPr lang="en-US" sz="2400" dirty="0"/>
          </a:p>
          <a:p>
            <a:pPr marL="0" indent="0">
              <a:buNone/>
            </a:pPr>
            <a:r>
              <a:rPr lang="en-US" sz="2400" b="1" dirty="0">
                <a:solidFill>
                  <a:schemeClr val="accent2"/>
                </a:solidFill>
              </a:rPr>
              <a:t>= 9 dòng</a:t>
            </a:r>
            <a:endParaRPr lang="en-US" sz="2400" dirty="0"/>
          </a:p>
        </p:txBody>
      </p:sp>
      <p:sp>
        <p:nvSpPr>
          <p:cNvPr id="8" name="Text 5"/>
          <p:cNvSpPr txBox="1"/>
          <p:nvPr/>
        </p:nvSpPr>
        <p:spPr>
          <a:xfrm>
            <a:off x="640080" y="5916168"/>
            <a:ext cx="5943600" cy="320040"/>
          </a:xfrm>
          <a:prstGeom prst="rect">
            <a:avLst/>
          </a:prstGeom>
          <a:noFill/>
          <a:ln/>
        </p:spPr>
        <p:txBody>
          <a:bodyPr wrap="square" lIns="0" tIns="0" rIns="0" bIns="0" rtlCol="0" anchor="ctr"/>
          <a:lstStyle/>
          <a:p>
            <a:pPr marL="0" indent="0">
              <a:buNone/>
            </a:pPr>
            <a:endParaRPr lang="en-US" sz="1600" dirty="0"/>
          </a:p>
        </p:txBody>
      </p:sp>
      <p:sp>
        <p:nvSpPr>
          <p:cNvPr id="9" name="Con số chính"/>
          <p:cNvSpPr/>
          <p:nvPr/>
        </p:nvSpPr>
        <p:spPr>
          <a:xfrm>
            <a:off x="7086600" y="1783080"/>
            <a:ext cx="4465015" cy="1417320"/>
          </a:xfrm>
          <a:prstGeom prst="roundRect">
            <a:avLst>
              <a:gd name="adj" fmla="val 3226"/>
            </a:avLst>
          </a:prstGeom>
          <a:solidFill>
            <a:srgbClr val="FFFFFF"/>
          </a:solidFill>
          <a:ln w="19050">
            <a:solidFill>
              <a:schemeClr val="tx1"/>
            </a:solidFill>
            <a:prstDash val="solid"/>
          </a:ln>
        </p:spPr>
        <p:txBody>
          <a:bodyPr/>
          <a:lstStyle/>
          <a:p>
            <a:endParaRPr lang="en-US"/>
          </a:p>
        </p:txBody>
      </p:sp>
      <p:sp>
        <p:nvSpPr>
          <p:cNvPr id="10" name="Lỗ xỏ dây"/>
          <p:cNvSpPr/>
          <p:nvPr/>
        </p:nvSpPr>
        <p:spPr>
          <a:xfrm>
            <a:off x="7013448" y="2418588"/>
            <a:ext cx="146304" cy="146304"/>
          </a:xfrm>
          <a:prstGeom prst="ellipse">
            <a:avLst/>
          </a:prstGeom>
          <a:solidFill>
            <a:schemeClr val="bg1"/>
          </a:solidFill>
          <a:ln w="19050">
            <a:solidFill>
              <a:schemeClr val="tx1"/>
            </a:solidFill>
            <a:prstDash val="solid"/>
          </a:ln>
        </p:spPr>
        <p:txBody>
          <a:bodyPr/>
          <a:lstStyle/>
          <a:p>
            <a:endParaRPr lang="en-US"/>
          </a:p>
        </p:txBody>
      </p:sp>
      <p:sp>
        <p:nvSpPr>
          <p:cNvPr id="11" name="Text 8"/>
          <p:cNvSpPr txBox="1"/>
          <p:nvPr/>
        </p:nvSpPr>
        <p:spPr>
          <a:xfrm>
            <a:off x="7406640" y="1783080"/>
            <a:ext cx="4007815" cy="1417320"/>
          </a:xfrm>
          <a:prstGeom prst="rect">
            <a:avLst/>
          </a:prstGeom>
          <a:noFill/>
          <a:ln/>
        </p:spPr>
        <p:txBody>
          <a:bodyPr wrap="square" lIns="0" tIns="0" rIns="0" bIns="0" rtlCol="0" anchor="ctr"/>
          <a:lstStyle/>
          <a:p>
            <a:pPr marL="0" indent="0">
              <a:buNone/>
            </a:pPr>
            <a:r>
              <a:rPr lang="en-US" sz="4800" b="1" dirty="0">
                <a:solidFill>
                  <a:schemeClr val="accent1"/>
                </a:solidFill>
              </a:rPr>
              <a:t>32,4 triệu</a:t>
            </a:r>
            <a:endParaRPr lang="en-US" sz="4800" dirty="0"/>
          </a:p>
          <a:p>
            <a:pPr marL="0" indent="0">
              <a:buNone/>
            </a:pPr>
            <a:r>
              <a:rPr lang="en-US" sz="2000" dirty="0">
                <a:solidFill>
                  <a:schemeClr val="tx2"/>
                </a:solidFill>
              </a:rPr>
              <a:t>dòng chi tiết đơn hàng</a:t>
            </a:r>
            <a:endParaRPr lang="en-US" sz="4800" dirty="0"/>
          </a:p>
        </p:txBody>
      </p:sp>
      <p:sp>
        <p:nvSpPr>
          <p:cNvPr id="12" name="Text 9"/>
          <p:cNvSpPr txBox="1"/>
          <p:nvPr/>
        </p:nvSpPr>
        <p:spPr>
          <a:xfrm>
            <a:off x="7086600" y="3520440"/>
            <a:ext cx="1325880" cy="731520"/>
          </a:xfrm>
          <a:prstGeom prst="rect">
            <a:avLst/>
          </a:prstGeom>
          <a:noFill/>
          <a:ln/>
        </p:spPr>
        <p:txBody>
          <a:bodyPr wrap="square" lIns="0" tIns="0" rIns="0" bIns="0" rtlCol="0" anchor="t"/>
          <a:lstStyle/>
          <a:p>
            <a:pPr marL="0" indent="0">
              <a:buNone/>
            </a:pPr>
            <a:r>
              <a:rPr lang="en-US" sz="2800" b="1" dirty="0">
                <a:solidFill>
                  <a:schemeClr val="tx1"/>
                </a:solidFill>
              </a:rPr>
              <a:t>4,88%</a:t>
            </a:r>
            <a:endParaRPr lang="en-US" sz="2800" dirty="0"/>
          </a:p>
        </p:txBody>
      </p:sp>
      <p:sp>
        <p:nvSpPr>
          <p:cNvPr id="13" name="Text 10"/>
          <p:cNvSpPr txBox="1"/>
          <p:nvPr/>
        </p:nvSpPr>
        <p:spPr>
          <a:xfrm>
            <a:off x="8458200" y="3557016"/>
            <a:ext cx="3093415" cy="731520"/>
          </a:xfrm>
          <a:prstGeom prst="rect">
            <a:avLst/>
          </a:prstGeom>
          <a:noFill/>
          <a:ln/>
        </p:spPr>
        <p:txBody>
          <a:bodyPr wrap="square" lIns="0" tIns="0" rIns="0" bIns="0" rtlCol="0" anchor="t"/>
          <a:lstStyle/>
          <a:p>
            <a:pPr marL="0" indent="0">
              <a:buNone/>
            </a:pPr>
            <a:r>
              <a:rPr lang="en-US" sz="2000" dirty="0">
                <a:solidFill>
                  <a:schemeClr val="tx1"/>
                </a:solidFill>
              </a:rPr>
              <a:t>đơn chỉ có 1 món, không tạo được luật A → B</a:t>
            </a:r>
            <a:endParaRPr lang="en-US" sz="2000" dirty="0"/>
          </a:p>
        </p:txBody>
      </p:sp>
      <p:sp>
        <p:nvSpPr>
          <p:cNvPr id="14" name="Text 11"/>
          <p:cNvSpPr txBox="1"/>
          <p:nvPr/>
        </p:nvSpPr>
        <p:spPr>
          <a:xfrm>
            <a:off x="7086600" y="4389120"/>
            <a:ext cx="1325880" cy="731520"/>
          </a:xfrm>
          <a:prstGeom prst="rect">
            <a:avLst/>
          </a:prstGeom>
          <a:noFill/>
          <a:ln/>
        </p:spPr>
        <p:txBody>
          <a:bodyPr wrap="square" lIns="0" tIns="0" rIns="0" bIns="0" rtlCol="0" anchor="t"/>
          <a:lstStyle/>
          <a:p>
            <a:pPr marL="0" indent="0">
              <a:buNone/>
            </a:pPr>
            <a:r>
              <a:rPr lang="en-US" sz="2800" b="1" dirty="0">
                <a:solidFill>
                  <a:schemeClr val="tx1"/>
                </a:solidFill>
              </a:rPr>
              <a:t>1.258</a:t>
            </a:r>
            <a:endParaRPr lang="en-US" sz="2800" dirty="0"/>
          </a:p>
        </p:txBody>
      </p:sp>
      <p:sp>
        <p:nvSpPr>
          <p:cNvPr id="15" name="Text 12"/>
          <p:cNvSpPr txBox="1"/>
          <p:nvPr/>
        </p:nvSpPr>
        <p:spPr>
          <a:xfrm>
            <a:off x="8458200" y="4425696"/>
            <a:ext cx="3093415" cy="731520"/>
          </a:xfrm>
          <a:prstGeom prst="rect">
            <a:avLst/>
          </a:prstGeom>
          <a:noFill/>
          <a:ln/>
        </p:spPr>
        <p:txBody>
          <a:bodyPr wrap="square" lIns="0" tIns="0" rIns="0" bIns="0" rtlCol="0" anchor="t"/>
          <a:lstStyle/>
          <a:p>
            <a:pPr marL="0" indent="0">
              <a:buNone/>
            </a:pPr>
            <a:r>
              <a:rPr lang="en-US" sz="2000" dirty="0">
                <a:solidFill>
                  <a:schemeClr val="tx1"/>
                </a:solidFill>
              </a:rPr>
              <a:t>sản phẩm nằm ở kệ “missing”</a:t>
            </a:r>
            <a:endParaRPr lang="en-US" sz="2000" dirty="0"/>
          </a:p>
        </p:txBody>
      </p:sp>
      <p:sp>
        <p:nvSpPr>
          <p:cNvPr id="16" name="Text 13"/>
          <p:cNvSpPr txBox="1"/>
          <p:nvPr/>
        </p:nvSpPr>
        <p:spPr>
          <a:xfrm>
            <a:off x="7086600" y="5257800"/>
            <a:ext cx="1325880" cy="731520"/>
          </a:xfrm>
          <a:prstGeom prst="rect">
            <a:avLst/>
          </a:prstGeom>
          <a:noFill/>
          <a:ln/>
        </p:spPr>
        <p:txBody>
          <a:bodyPr wrap="square" lIns="0" tIns="0" rIns="0" bIns="0" rtlCol="0" anchor="t"/>
          <a:lstStyle/>
          <a:p>
            <a:pPr marL="0" indent="0">
              <a:buNone/>
            </a:pPr>
            <a:r>
              <a:rPr lang="en-US" sz="2800" b="1" dirty="0">
                <a:solidFill>
                  <a:schemeClr val="tx1"/>
                </a:solidFill>
              </a:rPr>
              <a:t>0</a:t>
            </a:r>
            <a:endParaRPr lang="en-US" sz="2800" dirty="0"/>
          </a:p>
        </p:txBody>
      </p:sp>
      <p:sp>
        <p:nvSpPr>
          <p:cNvPr id="17" name="Text 14"/>
          <p:cNvSpPr txBox="1"/>
          <p:nvPr/>
        </p:nvSpPr>
        <p:spPr>
          <a:xfrm>
            <a:off x="8458200" y="5294376"/>
            <a:ext cx="3093415" cy="731520"/>
          </a:xfrm>
          <a:prstGeom prst="rect">
            <a:avLst/>
          </a:prstGeom>
          <a:noFill/>
          <a:ln/>
        </p:spPr>
        <p:txBody>
          <a:bodyPr wrap="square" lIns="0" tIns="0" rIns="0" bIns="0" rtlCol="0" anchor="t"/>
          <a:lstStyle/>
          <a:p>
            <a:pPr marL="0" indent="0">
              <a:buNone/>
            </a:pPr>
            <a:r>
              <a:rPr lang="en-US" sz="2000" dirty="0">
                <a:solidFill>
                  <a:schemeClr val="tx1"/>
                </a:solidFill>
              </a:rPr>
              <a:t>giá trị rỗng, 0 dòng trùng</a:t>
            </a:r>
            <a:endParaRPr lang="en-US" sz="20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11535" cy="1097280"/>
          </a:xfrm>
          <a:prstGeom prst="rect">
            <a:avLst/>
          </a:prstGeom>
          <a:noFill/>
          <a:ln/>
        </p:spPr>
        <p:txBody>
          <a:bodyPr wrap="square" lIns="0" tIns="0" rIns="0" bIns="0" rtlCol="0" anchor="t"/>
          <a:lstStyle/>
          <a:p>
            <a:pPr marL="0" indent="0" algn="l">
              <a:buNone/>
            </a:pPr>
            <a:r>
              <a:rPr lang="en-US" sz="3200" b="1" dirty="0">
                <a:solidFill>
                  <a:schemeClr val="tx1"/>
                </a:solidFill>
              </a:rPr>
              <a:t>Sáu bước biến 32 triệu dòng thành các giỏ hàng sẵn sàng khai phá</a:t>
            </a:r>
            <a:endParaRPr lang="en-US" sz="3200" dirty="0"/>
          </a:p>
        </p:txBody>
      </p:sp>
      <p:sp>
        <p:nvSpPr>
          <p:cNvPr id="3" name="Bước 1"/>
          <p:cNvSpPr/>
          <p:nvPr/>
        </p:nvSpPr>
        <p:spPr>
          <a:xfrm>
            <a:off x="640080" y="1783080"/>
            <a:ext cx="3383280" cy="1645920"/>
          </a:xfrm>
          <a:prstGeom prst="rect">
            <a:avLst/>
          </a:prstGeom>
          <a:solidFill>
            <a:schemeClr val="bg1"/>
          </a:solidFill>
          <a:ln w="12700">
            <a:solidFill>
              <a:schemeClr val="tx2"/>
            </a:solidFill>
            <a:prstDash val="solid"/>
          </a:ln>
        </p:spPr>
        <p:txBody>
          <a:bodyPr/>
          <a:lstStyle/>
          <a:p>
            <a:endParaRPr lang="en-US"/>
          </a:p>
        </p:txBody>
      </p:sp>
      <p:sp>
        <p:nvSpPr>
          <p:cNvPr id="4" name="Text 2"/>
          <p:cNvSpPr txBox="1"/>
          <p:nvPr/>
        </p:nvSpPr>
        <p:spPr>
          <a:xfrm>
            <a:off x="914400" y="1920240"/>
            <a:ext cx="914400" cy="320040"/>
          </a:xfrm>
          <a:prstGeom prst="rect">
            <a:avLst/>
          </a:prstGeom>
          <a:noFill/>
          <a:ln/>
        </p:spPr>
        <p:txBody>
          <a:bodyPr wrap="square" lIns="0" tIns="0" rIns="0" bIns="0" rtlCol="0" anchor="ctr"/>
          <a:lstStyle/>
          <a:p>
            <a:pPr marL="0" indent="0">
              <a:buNone/>
            </a:pPr>
            <a:r>
              <a:rPr lang="en-US" sz="2000" b="1" dirty="0">
                <a:solidFill>
                  <a:schemeClr val="accent1"/>
                </a:solidFill>
              </a:rPr>
              <a:t>1</a:t>
            </a:r>
            <a:endParaRPr lang="en-US" sz="2000" dirty="0"/>
          </a:p>
        </p:txBody>
      </p:sp>
      <p:sp>
        <p:nvSpPr>
          <p:cNvPr id="5" name="Text 3"/>
          <p:cNvSpPr txBox="1"/>
          <p:nvPr/>
        </p:nvSpPr>
        <p:spPr>
          <a:xfrm>
            <a:off x="914400" y="2258568"/>
            <a:ext cx="3017520" cy="411480"/>
          </a:xfrm>
          <a:prstGeom prst="rect">
            <a:avLst/>
          </a:prstGeom>
          <a:noFill/>
          <a:ln/>
        </p:spPr>
        <p:txBody>
          <a:bodyPr wrap="square" lIns="0" tIns="0" rIns="0" bIns="0" rtlCol="0" anchor="ctr"/>
          <a:lstStyle/>
          <a:p>
            <a:pPr marL="0" indent="0">
              <a:buNone/>
            </a:pPr>
            <a:r>
              <a:rPr lang="en-US" sz="2400" b="1" dirty="0">
                <a:solidFill>
                  <a:schemeClr val="tx1"/>
                </a:solidFill>
              </a:rPr>
              <a:t>Đọc dữ liệu thô</a:t>
            </a:r>
            <a:endParaRPr lang="en-US" sz="2400" dirty="0"/>
          </a:p>
        </p:txBody>
      </p:sp>
      <p:sp>
        <p:nvSpPr>
          <p:cNvPr id="6" name="Text 4"/>
          <p:cNvSpPr txBox="1"/>
          <p:nvPr/>
        </p:nvSpPr>
        <p:spPr>
          <a:xfrm>
            <a:off x="914400" y="2743200"/>
            <a:ext cx="3017520" cy="594360"/>
          </a:xfrm>
          <a:prstGeom prst="rect">
            <a:avLst/>
          </a:prstGeom>
          <a:noFill/>
          <a:ln/>
        </p:spPr>
        <p:txBody>
          <a:bodyPr wrap="square" lIns="0" tIns="0" rIns="0" bIns="0" rtlCol="0" anchor="t"/>
          <a:lstStyle/>
          <a:p>
            <a:pPr marL="0" indent="0">
              <a:buNone/>
            </a:pPr>
            <a:r>
              <a:rPr lang="en-US" sz="1800" dirty="0">
                <a:solidFill>
                  <a:schemeClr val="tx2"/>
                </a:solidFill>
              </a:rPr>
              <a:t>3 bảng, chỉ đọc cột cần thiết</a:t>
            </a:r>
            <a:endParaRPr lang="en-US" sz="1800" dirty="0"/>
          </a:p>
        </p:txBody>
      </p:sp>
      <p:sp>
        <p:nvSpPr>
          <p:cNvPr id="7" name="Mũi tên 1"/>
          <p:cNvSpPr/>
          <p:nvPr/>
        </p:nvSpPr>
        <p:spPr>
          <a:xfrm>
            <a:off x="4096512" y="2606040"/>
            <a:ext cx="234544" cy="0"/>
          </a:xfrm>
          <a:prstGeom prst="line">
            <a:avLst/>
          </a:prstGeom>
          <a:noFill/>
          <a:ln w="19050">
            <a:solidFill>
              <a:schemeClr val="tx2"/>
            </a:solidFill>
            <a:prstDash val="solid"/>
            <a:tailEnd type="triangle"/>
          </a:ln>
        </p:spPr>
        <p:txBody>
          <a:bodyPr/>
          <a:lstStyle/>
          <a:p>
            <a:endParaRPr lang="en-US"/>
          </a:p>
        </p:txBody>
      </p:sp>
      <p:sp>
        <p:nvSpPr>
          <p:cNvPr id="8" name="Bước 2"/>
          <p:cNvSpPr/>
          <p:nvPr/>
        </p:nvSpPr>
        <p:spPr>
          <a:xfrm>
            <a:off x="4404208" y="1783080"/>
            <a:ext cx="3383280" cy="1645920"/>
          </a:xfrm>
          <a:prstGeom prst="rect">
            <a:avLst/>
          </a:prstGeom>
          <a:solidFill>
            <a:schemeClr val="bg1"/>
          </a:solidFill>
          <a:ln w="12700">
            <a:solidFill>
              <a:schemeClr val="tx2"/>
            </a:solidFill>
            <a:prstDash val="solid"/>
          </a:ln>
        </p:spPr>
        <p:txBody>
          <a:bodyPr/>
          <a:lstStyle/>
          <a:p>
            <a:endParaRPr lang="en-US"/>
          </a:p>
        </p:txBody>
      </p:sp>
      <p:sp>
        <p:nvSpPr>
          <p:cNvPr id="9" name="Text 7"/>
          <p:cNvSpPr txBox="1"/>
          <p:nvPr/>
        </p:nvSpPr>
        <p:spPr>
          <a:xfrm>
            <a:off x="4678528" y="1920240"/>
            <a:ext cx="914400" cy="320040"/>
          </a:xfrm>
          <a:prstGeom prst="rect">
            <a:avLst/>
          </a:prstGeom>
          <a:noFill/>
          <a:ln/>
        </p:spPr>
        <p:txBody>
          <a:bodyPr wrap="square" lIns="0" tIns="0" rIns="0" bIns="0" rtlCol="0" anchor="ctr"/>
          <a:lstStyle/>
          <a:p>
            <a:pPr marL="0" indent="0">
              <a:buNone/>
            </a:pPr>
            <a:r>
              <a:rPr lang="en-US" sz="2000" b="1" dirty="0">
                <a:solidFill>
                  <a:schemeClr val="accent1"/>
                </a:solidFill>
              </a:rPr>
              <a:t>2</a:t>
            </a:r>
            <a:endParaRPr lang="en-US" sz="2000" dirty="0"/>
          </a:p>
        </p:txBody>
      </p:sp>
      <p:sp>
        <p:nvSpPr>
          <p:cNvPr id="10" name="Text 8"/>
          <p:cNvSpPr txBox="1"/>
          <p:nvPr/>
        </p:nvSpPr>
        <p:spPr>
          <a:xfrm>
            <a:off x="4678528" y="2258568"/>
            <a:ext cx="3017520" cy="411480"/>
          </a:xfrm>
          <a:prstGeom prst="rect">
            <a:avLst/>
          </a:prstGeom>
          <a:noFill/>
          <a:ln/>
        </p:spPr>
        <p:txBody>
          <a:bodyPr wrap="square" lIns="0" tIns="0" rIns="0" bIns="0" rtlCol="0" anchor="ctr"/>
          <a:lstStyle/>
          <a:p>
            <a:pPr marL="0" indent="0">
              <a:buNone/>
            </a:pPr>
            <a:r>
              <a:rPr lang="en-US" sz="2400" b="1" dirty="0">
                <a:solidFill>
                  <a:schemeClr val="tx1"/>
                </a:solidFill>
              </a:rPr>
              <a:t>Gắn tên</a:t>
            </a:r>
            <a:endParaRPr lang="en-US" sz="2400" dirty="0"/>
          </a:p>
        </p:txBody>
      </p:sp>
      <p:sp>
        <p:nvSpPr>
          <p:cNvPr id="11" name="Text 9"/>
          <p:cNvSpPr txBox="1"/>
          <p:nvPr/>
        </p:nvSpPr>
        <p:spPr>
          <a:xfrm>
            <a:off x="4678528" y="2743200"/>
            <a:ext cx="3017520" cy="594360"/>
          </a:xfrm>
          <a:prstGeom prst="rect">
            <a:avLst/>
          </a:prstGeom>
          <a:noFill/>
          <a:ln/>
        </p:spPr>
        <p:txBody>
          <a:bodyPr wrap="square" lIns="0" tIns="0" rIns="0" bIns="0" rtlCol="0" anchor="t"/>
          <a:lstStyle/>
          <a:p>
            <a:pPr marL="0" indent="0">
              <a:buNone/>
            </a:pPr>
            <a:r>
              <a:rPr lang="en-US" sz="1800" dirty="0">
                <a:solidFill>
                  <a:schemeClr val="tx2"/>
                </a:solidFill>
              </a:rPr>
              <a:t>49.688 sản phẩm, 134 kệ hàng</a:t>
            </a:r>
            <a:endParaRPr lang="en-US" sz="1800" dirty="0"/>
          </a:p>
        </p:txBody>
      </p:sp>
      <p:sp>
        <p:nvSpPr>
          <p:cNvPr id="12" name="Mũi tên 2"/>
          <p:cNvSpPr/>
          <p:nvPr/>
        </p:nvSpPr>
        <p:spPr>
          <a:xfrm>
            <a:off x="7860640" y="2606040"/>
            <a:ext cx="234544" cy="0"/>
          </a:xfrm>
          <a:prstGeom prst="line">
            <a:avLst/>
          </a:prstGeom>
          <a:noFill/>
          <a:ln w="19050">
            <a:solidFill>
              <a:schemeClr val="tx2"/>
            </a:solidFill>
            <a:prstDash val="solid"/>
            <a:tailEnd type="triangle"/>
          </a:ln>
        </p:spPr>
        <p:txBody>
          <a:bodyPr/>
          <a:lstStyle/>
          <a:p>
            <a:endParaRPr lang="en-US"/>
          </a:p>
        </p:txBody>
      </p:sp>
      <p:sp>
        <p:nvSpPr>
          <p:cNvPr id="13" name="Bước 3"/>
          <p:cNvSpPr/>
          <p:nvPr/>
        </p:nvSpPr>
        <p:spPr>
          <a:xfrm>
            <a:off x="8168335" y="1783080"/>
            <a:ext cx="3383280" cy="1645920"/>
          </a:xfrm>
          <a:prstGeom prst="rect">
            <a:avLst/>
          </a:prstGeom>
          <a:solidFill>
            <a:schemeClr val="bg1"/>
          </a:solidFill>
          <a:ln w="12700">
            <a:solidFill>
              <a:schemeClr val="tx2"/>
            </a:solidFill>
            <a:prstDash val="solid"/>
          </a:ln>
        </p:spPr>
        <p:txBody>
          <a:bodyPr/>
          <a:lstStyle/>
          <a:p>
            <a:endParaRPr lang="en-US"/>
          </a:p>
        </p:txBody>
      </p:sp>
      <p:sp>
        <p:nvSpPr>
          <p:cNvPr id="14" name="Text 12"/>
          <p:cNvSpPr txBox="1"/>
          <p:nvPr/>
        </p:nvSpPr>
        <p:spPr>
          <a:xfrm>
            <a:off x="8442655" y="1920240"/>
            <a:ext cx="914400" cy="320040"/>
          </a:xfrm>
          <a:prstGeom prst="rect">
            <a:avLst/>
          </a:prstGeom>
          <a:noFill/>
          <a:ln/>
        </p:spPr>
        <p:txBody>
          <a:bodyPr wrap="square" lIns="0" tIns="0" rIns="0" bIns="0" rtlCol="0" anchor="ctr"/>
          <a:lstStyle/>
          <a:p>
            <a:pPr marL="0" indent="0">
              <a:buNone/>
            </a:pPr>
            <a:r>
              <a:rPr lang="en-US" sz="2000" b="1" dirty="0">
                <a:solidFill>
                  <a:schemeClr val="accent1"/>
                </a:solidFill>
              </a:rPr>
              <a:t>3</a:t>
            </a:r>
            <a:endParaRPr lang="en-US" sz="2000" dirty="0"/>
          </a:p>
        </p:txBody>
      </p:sp>
      <p:sp>
        <p:nvSpPr>
          <p:cNvPr id="15" name="Text 13"/>
          <p:cNvSpPr txBox="1"/>
          <p:nvPr/>
        </p:nvSpPr>
        <p:spPr>
          <a:xfrm>
            <a:off x="8442655" y="2258568"/>
            <a:ext cx="3017520" cy="411480"/>
          </a:xfrm>
          <a:prstGeom prst="rect">
            <a:avLst/>
          </a:prstGeom>
          <a:noFill/>
          <a:ln/>
        </p:spPr>
        <p:txBody>
          <a:bodyPr wrap="square" lIns="0" tIns="0" rIns="0" bIns="0" rtlCol="0" anchor="ctr"/>
          <a:lstStyle/>
          <a:p>
            <a:pPr marL="0" indent="0">
              <a:buNone/>
            </a:pPr>
            <a:r>
              <a:rPr lang="en-US" sz="2400" b="1" dirty="0">
                <a:solidFill>
                  <a:schemeClr val="tx1"/>
                </a:solidFill>
              </a:rPr>
              <a:t>Lọc giỏ ≥ 2 món</a:t>
            </a:r>
            <a:endParaRPr lang="en-US" sz="2400" dirty="0"/>
          </a:p>
        </p:txBody>
      </p:sp>
      <p:sp>
        <p:nvSpPr>
          <p:cNvPr id="16" name="Text 14"/>
          <p:cNvSpPr txBox="1"/>
          <p:nvPr/>
        </p:nvSpPr>
        <p:spPr>
          <a:xfrm>
            <a:off x="8442655" y="2743200"/>
            <a:ext cx="3017520" cy="594360"/>
          </a:xfrm>
          <a:prstGeom prst="rect">
            <a:avLst/>
          </a:prstGeom>
          <a:noFill/>
          <a:ln/>
        </p:spPr>
        <p:txBody>
          <a:bodyPr wrap="square" lIns="0" tIns="0" rIns="0" bIns="0" rtlCol="0" anchor="t"/>
          <a:lstStyle/>
          <a:p>
            <a:pPr marL="0" indent="0">
              <a:buNone/>
            </a:pPr>
            <a:r>
              <a:rPr lang="en-US" sz="1800" dirty="0">
                <a:solidFill>
                  <a:schemeClr val="tx2"/>
                </a:solidFill>
              </a:rPr>
              <a:t>loại 156.748 đơn (4,88%)</a:t>
            </a:r>
            <a:endParaRPr lang="en-US" sz="1800" dirty="0"/>
          </a:p>
        </p:txBody>
      </p:sp>
      <p:sp>
        <p:nvSpPr>
          <p:cNvPr id="17" name="Bước lấy mẫu lồng nhau"/>
          <p:cNvSpPr/>
          <p:nvPr/>
        </p:nvSpPr>
        <p:spPr>
          <a:xfrm>
            <a:off x="640080" y="4023360"/>
            <a:ext cx="3383280" cy="1645920"/>
          </a:xfrm>
          <a:prstGeom prst="roundRect">
            <a:avLst>
              <a:gd name="adj" fmla="val 2778"/>
            </a:avLst>
          </a:prstGeom>
          <a:solidFill>
            <a:srgbClr val="FFFFFF"/>
          </a:solidFill>
          <a:ln w="28575">
            <a:solidFill>
              <a:schemeClr val="accent2"/>
            </a:solidFill>
            <a:prstDash val="solid"/>
          </a:ln>
        </p:spPr>
        <p:txBody>
          <a:bodyPr/>
          <a:lstStyle/>
          <a:p>
            <a:endParaRPr lang="en-US"/>
          </a:p>
        </p:txBody>
      </p:sp>
      <p:sp>
        <p:nvSpPr>
          <p:cNvPr id="18" name="Lỗ xỏ dây"/>
          <p:cNvSpPr/>
          <p:nvPr/>
        </p:nvSpPr>
        <p:spPr>
          <a:xfrm>
            <a:off x="566928" y="4773168"/>
            <a:ext cx="146304" cy="146304"/>
          </a:xfrm>
          <a:prstGeom prst="ellipse">
            <a:avLst/>
          </a:prstGeom>
          <a:solidFill>
            <a:schemeClr val="bg1"/>
          </a:solidFill>
          <a:ln w="28575">
            <a:solidFill>
              <a:schemeClr val="accent2"/>
            </a:solidFill>
            <a:prstDash val="solid"/>
          </a:ln>
        </p:spPr>
        <p:txBody>
          <a:bodyPr/>
          <a:lstStyle/>
          <a:p>
            <a:endParaRPr lang="en-US"/>
          </a:p>
        </p:txBody>
      </p:sp>
      <p:sp>
        <p:nvSpPr>
          <p:cNvPr id="19" name="Text 17"/>
          <p:cNvSpPr txBox="1"/>
          <p:nvPr/>
        </p:nvSpPr>
        <p:spPr>
          <a:xfrm>
            <a:off x="914400" y="4160520"/>
            <a:ext cx="914400" cy="320040"/>
          </a:xfrm>
          <a:prstGeom prst="rect">
            <a:avLst/>
          </a:prstGeom>
          <a:noFill/>
          <a:ln/>
        </p:spPr>
        <p:txBody>
          <a:bodyPr wrap="square" lIns="0" tIns="0" rIns="0" bIns="0" rtlCol="0" anchor="ctr"/>
          <a:lstStyle/>
          <a:p>
            <a:pPr marL="0" indent="0">
              <a:buNone/>
            </a:pPr>
            <a:r>
              <a:rPr lang="en-US" sz="2000" b="1" dirty="0">
                <a:solidFill>
                  <a:schemeClr val="accent2"/>
                </a:solidFill>
              </a:rPr>
              <a:t>4</a:t>
            </a:r>
            <a:endParaRPr lang="en-US" sz="2000" dirty="0"/>
          </a:p>
        </p:txBody>
      </p:sp>
      <p:sp>
        <p:nvSpPr>
          <p:cNvPr id="20" name="Text 18"/>
          <p:cNvSpPr txBox="1"/>
          <p:nvPr/>
        </p:nvSpPr>
        <p:spPr>
          <a:xfrm>
            <a:off x="914400" y="4498848"/>
            <a:ext cx="3017520" cy="411480"/>
          </a:xfrm>
          <a:prstGeom prst="rect">
            <a:avLst/>
          </a:prstGeom>
          <a:noFill/>
          <a:ln/>
        </p:spPr>
        <p:txBody>
          <a:bodyPr wrap="square" lIns="0" tIns="0" rIns="0" bIns="0" rtlCol="0" anchor="ctr"/>
          <a:lstStyle/>
          <a:p>
            <a:pPr marL="0" indent="0">
              <a:buNone/>
            </a:pPr>
            <a:r>
              <a:rPr lang="en-US" sz="2400" b="1" dirty="0">
                <a:solidFill>
                  <a:schemeClr val="tx1"/>
                </a:solidFill>
              </a:rPr>
              <a:t>Lấy mẫu lồng nhau</a:t>
            </a:r>
            <a:endParaRPr lang="en-US" sz="2400" dirty="0"/>
          </a:p>
        </p:txBody>
      </p:sp>
      <p:sp>
        <p:nvSpPr>
          <p:cNvPr id="21" name="Text 19"/>
          <p:cNvSpPr txBox="1"/>
          <p:nvPr/>
        </p:nvSpPr>
        <p:spPr>
          <a:xfrm>
            <a:off x="914400" y="4983480"/>
            <a:ext cx="3017520" cy="594360"/>
          </a:xfrm>
          <a:prstGeom prst="rect">
            <a:avLst/>
          </a:prstGeom>
          <a:noFill/>
          <a:ln/>
        </p:spPr>
        <p:txBody>
          <a:bodyPr wrap="square" lIns="0" tIns="0" rIns="0" bIns="0" rtlCol="0" anchor="t"/>
          <a:lstStyle/>
          <a:p>
            <a:pPr marL="0" indent="0">
              <a:buNone/>
            </a:pPr>
            <a:r>
              <a:rPr lang="en-US" sz="1800" dirty="0">
                <a:solidFill>
                  <a:schemeClr val="tx2"/>
                </a:solidFill>
              </a:rPr>
              <a:t>10k ⊂ 50k ⊂ 100k, seed 42</a:t>
            </a:r>
            <a:endParaRPr lang="en-US" sz="1800" dirty="0"/>
          </a:p>
        </p:txBody>
      </p:sp>
      <p:sp>
        <p:nvSpPr>
          <p:cNvPr id="22" name="Mũi tên 4"/>
          <p:cNvSpPr/>
          <p:nvPr/>
        </p:nvSpPr>
        <p:spPr>
          <a:xfrm>
            <a:off x="4096512" y="4846320"/>
            <a:ext cx="234544" cy="0"/>
          </a:xfrm>
          <a:prstGeom prst="line">
            <a:avLst/>
          </a:prstGeom>
          <a:noFill/>
          <a:ln w="19050">
            <a:solidFill>
              <a:schemeClr val="tx2"/>
            </a:solidFill>
            <a:prstDash val="solid"/>
            <a:tailEnd type="triangle"/>
          </a:ln>
        </p:spPr>
        <p:txBody>
          <a:bodyPr/>
          <a:lstStyle/>
          <a:p>
            <a:endParaRPr lang="en-US"/>
          </a:p>
        </p:txBody>
      </p:sp>
      <p:sp>
        <p:nvSpPr>
          <p:cNvPr id="23" name="Bước 5"/>
          <p:cNvSpPr/>
          <p:nvPr/>
        </p:nvSpPr>
        <p:spPr>
          <a:xfrm>
            <a:off x="4404208" y="4023360"/>
            <a:ext cx="3383280" cy="1645920"/>
          </a:xfrm>
          <a:prstGeom prst="rect">
            <a:avLst/>
          </a:prstGeom>
          <a:solidFill>
            <a:schemeClr val="bg1"/>
          </a:solidFill>
          <a:ln w="12700">
            <a:solidFill>
              <a:schemeClr val="tx2"/>
            </a:solidFill>
            <a:prstDash val="solid"/>
          </a:ln>
        </p:spPr>
        <p:txBody>
          <a:bodyPr/>
          <a:lstStyle/>
          <a:p>
            <a:endParaRPr lang="en-US"/>
          </a:p>
        </p:txBody>
      </p:sp>
      <p:sp>
        <p:nvSpPr>
          <p:cNvPr id="24" name="Text 22"/>
          <p:cNvSpPr txBox="1"/>
          <p:nvPr/>
        </p:nvSpPr>
        <p:spPr>
          <a:xfrm>
            <a:off x="4678528" y="4160520"/>
            <a:ext cx="914400" cy="320040"/>
          </a:xfrm>
          <a:prstGeom prst="rect">
            <a:avLst/>
          </a:prstGeom>
          <a:noFill/>
          <a:ln/>
        </p:spPr>
        <p:txBody>
          <a:bodyPr wrap="square" lIns="0" tIns="0" rIns="0" bIns="0" rtlCol="0" anchor="ctr"/>
          <a:lstStyle/>
          <a:p>
            <a:pPr marL="0" indent="0">
              <a:buNone/>
            </a:pPr>
            <a:r>
              <a:rPr lang="en-US" sz="2000" b="1" dirty="0">
                <a:solidFill>
                  <a:schemeClr val="accent1"/>
                </a:solidFill>
              </a:rPr>
              <a:t>5</a:t>
            </a:r>
            <a:endParaRPr lang="en-US" sz="2000" dirty="0"/>
          </a:p>
        </p:txBody>
      </p:sp>
      <p:sp>
        <p:nvSpPr>
          <p:cNvPr id="25" name="Text 23"/>
          <p:cNvSpPr txBox="1"/>
          <p:nvPr/>
        </p:nvSpPr>
        <p:spPr>
          <a:xfrm>
            <a:off x="4678528" y="4498848"/>
            <a:ext cx="3017520" cy="411480"/>
          </a:xfrm>
          <a:prstGeom prst="rect">
            <a:avLst/>
          </a:prstGeom>
          <a:noFill/>
          <a:ln/>
        </p:spPr>
        <p:txBody>
          <a:bodyPr wrap="square" lIns="0" tIns="0" rIns="0" bIns="0" rtlCol="0" anchor="ctr"/>
          <a:lstStyle/>
          <a:p>
            <a:pPr marL="0" indent="0">
              <a:buNone/>
            </a:pPr>
            <a:r>
              <a:rPr lang="en-US" sz="2400" b="1" dirty="0">
                <a:solidFill>
                  <a:schemeClr val="tx1"/>
                </a:solidFill>
              </a:rPr>
              <a:t>Gom thành giỏ</a:t>
            </a:r>
            <a:endParaRPr lang="en-US" sz="2400" dirty="0"/>
          </a:p>
        </p:txBody>
      </p:sp>
      <p:sp>
        <p:nvSpPr>
          <p:cNvPr id="26" name="Text 24"/>
          <p:cNvSpPr txBox="1"/>
          <p:nvPr/>
        </p:nvSpPr>
        <p:spPr>
          <a:xfrm>
            <a:off x="4678528" y="4983480"/>
            <a:ext cx="3017520" cy="594360"/>
          </a:xfrm>
          <a:prstGeom prst="rect">
            <a:avLst/>
          </a:prstGeom>
          <a:noFill/>
          <a:ln/>
        </p:spPr>
        <p:txBody>
          <a:bodyPr wrap="square" lIns="0" tIns="0" rIns="0" bIns="0" rtlCol="0" anchor="t"/>
          <a:lstStyle/>
          <a:p>
            <a:pPr marL="0" indent="0">
              <a:buNone/>
            </a:pPr>
            <a:r>
              <a:rPr lang="en-US" sz="1800" dirty="0">
                <a:solidFill>
                  <a:schemeClr val="tx2"/>
                </a:solidFill>
              </a:rPr>
              <a:t>mức sản phẩm và mức kệ, bỏ kệ “missing”</a:t>
            </a:r>
            <a:endParaRPr lang="en-US" sz="1800" dirty="0"/>
          </a:p>
        </p:txBody>
      </p:sp>
      <p:sp>
        <p:nvSpPr>
          <p:cNvPr id="27" name="Mũi tên 5"/>
          <p:cNvSpPr/>
          <p:nvPr/>
        </p:nvSpPr>
        <p:spPr>
          <a:xfrm>
            <a:off x="7860640" y="4846320"/>
            <a:ext cx="234544" cy="0"/>
          </a:xfrm>
          <a:prstGeom prst="line">
            <a:avLst/>
          </a:prstGeom>
          <a:noFill/>
          <a:ln w="19050">
            <a:solidFill>
              <a:schemeClr val="tx2"/>
            </a:solidFill>
            <a:prstDash val="solid"/>
            <a:tailEnd type="triangle"/>
          </a:ln>
        </p:spPr>
        <p:txBody>
          <a:bodyPr/>
          <a:lstStyle/>
          <a:p>
            <a:endParaRPr lang="en-US"/>
          </a:p>
        </p:txBody>
      </p:sp>
      <p:sp>
        <p:nvSpPr>
          <p:cNvPr id="28" name="Bước 6"/>
          <p:cNvSpPr/>
          <p:nvPr/>
        </p:nvSpPr>
        <p:spPr>
          <a:xfrm>
            <a:off x="8168335" y="4023360"/>
            <a:ext cx="3383280" cy="1645920"/>
          </a:xfrm>
          <a:prstGeom prst="rect">
            <a:avLst/>
          </a:prstGeom>
          <a:solidFill>
            <a:schemeClr val="bg1"/>
          </a:solidFill>
          <a:ln w="12700">
            <a:solidFill>
              <a:schemeClr val="tx2"/>
            </a:solidFill>
            <a:prstDash val="solid"/>
          </a:ln>
        </p:spPr>
        <p:txBody>
          <a:bodyPr/>
          <a:lstStyle/>
          <a:p>
            <a:endParaRPr lang="en-US"/>
          </a:p>
        </p:txBody>
      </p:sp>
      <p:sp>
        <p:nvSpPr>
          <p:cNvPr id="29" name="Text 27"/>
          <p:cNvSpPr txBox="1"/>
          <p:nvPr/>
        </p:nvSpPr>
        <p:spPr>
          <a:xfrm>
            <a:off x="8442655" y="4160520"/>
            <a:ext cx="914400" cy="320040"/>
          </a:xfrm>
          <a:prstGeom prst="rect">
            <a:avLst/>
          </a:prstGeom>
          <a:noFill/>
          <a:ln/>
        </p:spPr>
        <p:txBody>
          <a:bodyPr wrap="square" lIns="0" tIns="0" rIns="0" bIns="0" rtlCol="0" anchor="ctr"/>
          <a:lstStyle/>
          <a:p>
            <a:pPr marL="0" indent="0">
              <a:buNone/>
            </a:pPr>
            <a:r>
              <a:rPr lang="en-US" sz="2000" b="1" dirty="0">
                <a:solidFill>
                  <a:schemeClr val="accent1"/>
                </a:solidFill>
              </a:rPr>
              <a:t>6</a:t>
            </a:r>
            <a:endParaRPr lang="en-US" sz="2000" dirty="0"/>
          </a:p>
        </p:txBody>
      </p:sp>
      <p:sp>
        <p:nvSpPr>
          <p:cNvPr id="30" name="Text 28"/>
          <p:cNvSpPr txBox="1"/>
          <p:nvPr/>
        </p:nvSpPr>
        <p:spPr>
          <a:xfrm>
            <a:off x="8442655" y="4498848"/>
            <a:ext cx="3017520" cy="411480"/>
          </a:xfrm>
          <a:prstGeom prst="rect">
            <a:avLst/>
          </a:prstGeom>
          <a:noFill/>
          <a:ln/>
        </p:spPr>
        <p:txBody>
          <a:bodyPr wrap="square" lIns="0" tIns="0" rIns="0" bIns="0" rtlCol="0" anchor="ctr"/>
          <a:lstStyle/>
          <a:p>
            <a:pPr marL="0" indent="0">
              <a:buNone/>
            </a:pPr>
            <a:r>
              <a:rPr lang="en-US" sz="2400" b="1" dirty="0">
                <a:solidFill>
                  <a:schemeClr val="tx1"/>
                </a:solidFill>
              </a:rPr>
              <a:t>Lưu Parquet</a:t>
            </a:r>
            <a:endParaRPr lang="en-US" sz="2400" dirty="0"/>
          </a:p>
        </p:txBody>
      </p:sp>
      <p:sp>
        <p:nvSpPr>
          <p:cNvPr id="31" name="Text 29"/>
          <p:cNvSpPr txBox="1"/>
          <p:nvPr/>
        </p:nvSpPr>
        <p:spPr>
          <a:xfrm>
            <a:off x="8442655" y="4983480"/>
            <a:ext cx="3017520" cy="594360"/>
          </a:xfrm>
          <a:prstGeom prst="rect">
            <a:avLst/>
          </a:prstGeom>
          <a:noFill/>
          <a:ln/>
        </p:spPr>
        <p:txBody>
          <a:bodyPr wrap="square" lIns="0" tIns="0" rIns="0" bIns="0" rtlCol="0" anchor="t"/>
          <a:lstStyle/>
          <a:p>
            <a:pPr marL="0" indent="0">
              <a:buNone/>
            </a:pPr>
            <a:r>
              <a:rPr lang="en-US" sz="1800" dirty="0">
                <a:solidFill>
                  <a:schemeClr val="tx2"/>
                </a:solidFill>
              </a:rPr>
              <a:t>4 tập giao dịch cho FP-Growth</a:t>
            </a:r>
            <a:endParaRPr lang="en-US" sz="1800" dirty="0"/>
          </a:p>
        </p:txBody>
      </p:sp>
      <p:sp>
        <p:nvSpPr>
          <p:cNvPr id="32" name="Shape 30"/>
          <p:cNvSpPr/>
          <p:nvPr/>
        </p:nvSpPr>
        <p:spPr>
          <a:xfrm>
            <a:off x="9859975" y="3474720"/>
            <a:ext cx="0" cy="251460"/>
          </a:xfrm>
          <a:prstGeom prst="line">
            <a:avLst/>
          </a:prstGeom>
          <a:noFill/>
          <a:ln w="19050">
            <a:solidFill>
              <a:schemeClr val="tx2"/>
            </a:solidFill>
            <a:prstDash val="solid"/>
          </a:ln>
        </p:spPr>
        <p:txBody>
          <a:bodyPr/>
          <a:lstStyle/>
          <a:p>
            <a:endParaRPr lang="en-US"/>
          </a:p>
        </p:txBody>
      </p:sp>
      <p:sp>
        <p:nvSpPr>
          <p:cNvPr id="33" name="Shape 31"/>
          <p:cNvSpPr/>
          <p:nvPr/>
        </p:nvSpPr>
        <p:spPr>
          <a:xfrm>
            <a:off x="2331720" y="3726180"/>
            <a:ext cx="7528255" cy="0"/>
          </a:xfrm>
          <a:prstGeom prst="line">
            <a:avLst/>
          </a:prstGeom>
          <a:noFill/>
          <a:ln w="19050">
            <a:solidFill>
              <a:schemeClr val="tx2"/>
            </a:solidFill>
            <a:prstDash val="solid"/>
          </a:ln>
        </p:spPr>
        <p:txBody>
          <a:bodyPr/>
          <a:lstStyle/>
          <a:p>
            <a:endParaRPr lang="en-US"/>
          </a:p>
        </p:txBody>
      </p:sp>
      <p:sp>
        <p:nvSpPr>
          <p:cNvPr id="34" name="Mũi tên 3 sang 4"/>
          <p:cNvSpPr/>
          <p:nvPr/>
        </p:nvSpPr>
        <p:spPr>
          <a:xfrm>
            <a:off x="2331720" y="3726180"/>
            <a:ext cx="0" cy="251460"/>
          </a:xfrm>
          <a:prstGeom prst="line">
            <a:avLst/>
          </a:prstGeom>
          <a:noFill/>
          <a:ln w="19050">
            <a:solidFill>
              <a:schemeClr val="tx2"/>
            </a:solidFill>
            <a:prstDash val="solid"/>
            <a:tailEnd type="triangle"/>
          </a:ln>
        </p:spPr>
        <p:txBody>
          <a:bodyPr/>
          <a:lstStyle/>
          <a:p>
            <a:endParaRPr lang="en-US"/>
          </a:p>
        </p:txBody>
      </p:sp>
      <p:sp>
        <p:nvSpPr>
          <p:cNvPr id="3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 xmlns:ma14="http://schemas.microsoft.com/office/mac/drawingml/2011/main" val="0"/>
            </a:ext>
          </a:extLst>
        </p:spPr>
        <p:txBody>
          <a:bodyPr lIns="0" tIns="0" rIns="0" bIns="0"/>
          <a:lstStyle>
            <a:lvl1pPr>
              <a:defRPr sz="1200">
                <a:solidFill>
                  <a:schemeClr val="tx2"/>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11535" cy="1097280"/>
          </a:xfrm>
          <a:prstGeom prst="rect">
            <a:avLst/>
          </a:prstGeom>
          <a:noFill/>
          <a:ln/>
        </p:spPr>
        <p:txBody>
          <a:bodyPr wrap="square" lIns="0" tIns="0" rIns="0" bIns="0" rtlCol="0" anchor="t"/>
          <a:lstStyle/>
          <a:p>
            <a:pPr marL="0" indent="0" algn="l">
              <a:buNone/>
            </a:pPr>
            <a:r>
              <a:rPr lang="en-US" sz="3200" b="1" dirty="0">
                <a:solidFill>
                  <a:schemeClr val="tx1"/>
                </a:solidFill>
              </a:rPr>
              <a:t>FP-Growth </a:t>
            </a:r>
            <a:r>
              <a:rPr lang="en-US" sz="3200" b="1" dirty="0" err="1">
                <a:solidFill>
                  <a:schemeClr val="tx1"/>
                </a:solidFill>
              </a:rPr>
              <a:t>nén</a:t>
            </a:r>
            <a:r>
              <a:rPr lang="en-US" sz="3200" b="1" dirty="0">
                <a:solidFill>
                  <a:schemeClr val="tx1"/>
                </a:solidFill>
              </a:rPr>
              <a:t> </a:t>
            </a:r>
            <a:r>
              <a:rPr lang="en-US" sz="3200" b="1" dirty="0" err="1">
                <a:solidFill>
                  <a:schemeClr val="tx1"/>
                </a:solidFill>
              </a:rPr>
              <a:t>mọi</a:t>
            </a:r>
            <a:r>
              <a:rPr lang="en-US" sz="3200" b="1" dirty="0">
                <a:solidFill>
                  <a:schemeClr val="tx1"/>
                </a:solidFill>
              </a:rPr>
              <a:t> </a:t>
            </a:r>
            <a:r>
              <a:rPr lang="en-US" sz="3200" b="1" dirty="0" err="1">
                <a:solidFill>
                  <a:schemeClr val="tx1"/>
                </a:solidFill>
              </a:rPr>
              <a:t>giỏ</a:t>
            </a:r>
            <a:r>
              <a:rPr lang="en-US" sz="3200" b="1" dirty="0">
                <a:solidFill>
                  <a:schemeClr val="tx1"/>
                </a:solidFill>
              </a:rPr>
              <a:t> </a:t>
            </a:r>
            <a:r>
              <a:rPr lang="en-US" sz="3200" b="1" dirty="0" err="1">
                <a:solidFill>
                  <a:schemeClr val="tx1"/>
                </a:solidFill>
              </a:rPr>
              <a:t>hàng</a:t>
            </a:r>
            <a:r>
              <a:rPr lang="en-US" sz="3200" b="1" dirty="0">
                <a:solidFill>
                  <a:schemeClr val="tx1"/>
                </a:solidFill>
              </a:rPr>
              <a:t> </a:t>
            </a:r>
            <a:r>
              <a:rPr lang="en-US" sz="3200" b="1" dirty="0" err="1">
                <a:solidFill>
                  <a:schemeClr val="tx1"/>
                </a:solidFill>
              </a:rPr>
              <a:t>vào</a:t>
            </a:r>
            <a:r>
              <a:rPr lang="en-US" sz="3200" b="1" dirty="0">
                <a:solidFill>
                  <a:schemeClr val="tx1"/>
                </a:solidFill>
              </a:rPr>
              <a:t> </a:t>
            </a:r>
            <a:r>
              <a:rPr lang="en-US" sz="3200" b="1" dirty="0" err="1">
                <a:solidFill>
                  <a:schemeClr val="tx1"/>
                </a:solidFill>
              </a:rPr>
              <a:t>một</a:t>
            </a:r>
            <a:r>
              <a:rPr lang="en-US" sz="3200" b="1" dirty="0">
                <a:solidFill>
                  <a:schemeClr val="tx1"/>
                </a:solidFill>
              </a:rPr>
              <a:t> </a:t>
            </a:r>
            <a:r>
              <a:rPr lang="en-US" sz="3200" b="1" dirty="0" err="1">
                <a:solidFill>
                  <a:schemeClr val="tx1"/>
                </a:solidFill>
              </a:rPr>
              <a:t>cây</a:t>
            </a:r>
            <a:r>
              <a:rPr lang="en-US" sz="3200" b="1" dirty="0">
                <a:solidFill>
                  <a:schemeClr val="tx1"/>
                </a:solidFill>
              </a:rPr>
              <a:t> </a:t>
            </a:r>
            <a:r>
              <a:rPr lang="en-US" sz="3200" b="1" dirty="0" err="1">
                <a:solidFill>
                  <a:schemeClr val="tx1"/>
                </a:solidFill>
              </a:rPr>
              <a:t>nên</a:t>
            </a:r>
            <a:r>
              <a:rPr lang="en-US" sz="3200" b="1" dirty="0">
                <a:solidFill>
                  <a:schemeClr val="tx1"/>
                </a:solidFill>
              </a:rPr>
              <a:t> </a:t>
            </a:r>
            <a:r>
              <a:rPr lang="en-US" sz="3200" b="1" dirty="0" err="1">
                <a:solidFill>
                  <a:schemeClr val="tx1"/>
                </a:solidFill>
              </a:rPr>
              <a:t>không</a:t>
            </a:r>
            <a:r>
              <a:rPr lang="en-US" sz="3200" b="1" dirty="0">
                <a:solidFill>
                  <a:schemeClr val="tx1"/>
                </a:solidFill>
              </a:rPr>
              <a:t> </a:t>
            </a:r>
            <a:r>
              <a:rPr lang="en-US" sz="3200" b="1" dirty="0" err="1">
                <a:solidFill>
                  <a:schemeClr val="tx1"/>
                </a:solidFill>
              </a:rPr>
              <a:t>phải</a:t>
            </a:r>
            <a:r>
              <a:rPr lang="en-US" sz="3200" b="1" dirty="0">
                <a:solidFill>
                  <a:schemeClr val="tx1"/>
                </a:solidFill>
              </a:rPr>
              <a:t> </a:t>
            </a:r>
            <a:r>
              <a:rPr lang="en-US" sz="3200" b="1" dirty="0" err="1">
                <a:solidFill>
                  <a:schemeClr val="tx1"/>
                </a:solidFill>
              </a:rPr>
              <a:t>sinh</a:t>
            </a:r>
            <a:r>
              <a:rPr lang="en-US" sz="3200" b="1" dirty="0">
                <a:solidFill>
                  <a:schemeClr val="tx1"/>
                </a:solidFill>
              </a:rPr>
              <a:t> </a:t>
            </a:r>
            <a:r>
              <a:rPr lang="en-US" sz="3200" b="1" dirty="0" err="1">
                <a:solidFill>
                  <a:schemeClr val="tx1"/>
                </a:solidFill>
              </a:rPr>
              <a:t>ứng</a:t>
            </a:r>
            <a:r>
              <a:rPr lang="en-US" sz="3200" b="1" dirty="0">
                <a:solidFill>
                  <a:schemeClr val="tx1"/>
                </a:solidFill>
              </a:rPr>
              <a:t> </a:t>
            </a:r>
            <a:r>
              <a:rPr lang="en-US" sz="3200" b="1" dirty="0" err="1">
                <a:solidFill>
                  <a:schemeClr val="tx1"/>
                </a:solidFill>
              </a:rPr>
              <a:t>viên</a:t>
            </a:r>
            <a:r>
              <a:rPr lang="en-US" sz="3200" b="1" dirty="0">
                <a:solidFill>
                  <a:schemeClr val="tx1"/>
                </a:solidFill>
              </a:rPr>
              <a:t> </a:t>
            </a:r>
            <a:r>
              <a:rPr lang="en-US" sz="3200" b="1" dirty="0" err="1">
                <a:solidFill>
                  <a:schemeClr val="tx1"/>
                </a:solidFill>
              </a:rPr>
              <a:t>như</a:t>
            </a:r>
            <a:r>
              <a:rPr lang="en-US" sz="3200" b="1" dirty="0">
                <a:solidFill>
                  <a:schemeClr val="tx1"/>
                </a:solidFill>
              </a:rPr>
              <a:t> </a:t>
            </a:r>
            <a:r>
              <a:rPr lang="en-US" sz="3200" b="1" dirty="0" err="1">
                <a:solidFill>
                  <a:schemeClr val="tx1"/>
                </a:solidFill>
              </a:rPr>
              <a:t>Apriori</a:t>
            </a:r>
            <a:endParaRPr lang="en-US" sz="3200" dirty="0"/>
          </a:p>
        </p:txBody>
      </p:sp>
      <p:sp>
        <p:nvSpPr>
          <p:cNvPr id="3" name="Text 1"/>
          <p:cNvSpPr txBox="1"/>
          <p:nvPr/>
        </p:nvSpPr>
        <p:spPr>
          <a:xfrm>
            <a:off x="640080" y="1783080"/>
            <a:ext cx="640080" cy="685800"/>
          </a:xfrm>
          <a:prstGeom prst="rect">
            <a:avLst/>
          </a:prstGeom>
          <a:noFill/>
          <a:ln/>
        </p:spPr>
        <p:txBody>
          <a:bodyPr wrap="square" lIns="0" tIns="0" rIns="0" bIns="0" rtlCol="0" anchor="t"/>
          <a:lstStyle/>
          <a:p>
            <a:pPr marL="0" indent="0">
              <a:buNone/>
            </a:pPr>
            <a:r>
              <a:rPr lang="en-US" sz="4000" b="1" dirty="0">
                <a:solidFill>
                  <a:schemeClr val="accent1"/>
                </a:solidFill>
              </a:rPr>
              <a:t>1</a:t>
            </a:r>
            <a:endParaRPr lang="en-US" sz="4000" dirty="0"/>
          </a:p>
        </p:txBody>
      </p:sp>
      <p:sp>
        <p:nvSpPr>
          <p:cNvPr id="4" name="Text 2"/>
          <p:cNvSpPr txBox="1"/>
          <p:nvPr/>
        </p:nvSpPr>
        <p:spPr>
          <a:xfrm>
            <a:off x="1417320" y="1801368"/>
            <a:ext cx="5669280" cy="411480"/>
          </a:xfrm>
          <a:prstGeom prst="rect">
            <a:avLst/>
          </a:prstGeom>
          <a:noFill/>
          <a:ln/>
        </p:spPr>
        <p:txBody>
          <a:bodyPr wrap="square" lIns="0" tIns="0" rIns="0" bIns="0" rtlCol="0" anchor="ctr"/>
          <a:lstStyle/>
          <a:p>
            <a:pPr marL="0" indent="0">
              <a:buNone/>
            </a:pPr>
            <a:r>
              <a:rPr lang="en-US" sz="2400" b="1" dirty="0">
                <a:solidFill>
                  <a:schemeClr val="tx1"/>
                </a:solidFill>
              </a:rPr>
              <a:t>Lần duyệt 1</a:t>
            </a:r>
            <a:endParaRPr lang="en-US" sz="2400" dirty="0"/>
          </a:p>
        </p:txBody>
      </p:sp>
      <p:sp>
        <p:nvSpPr>
          <p:cNvPr id="5" name="Text 3"/>
          <p:cNvSpPr txBox="1"/>
          <p:nvPr/>
        </p:nvSpPr>
        <p:spPr>
          <a:xfrm>
            <a:off x="1417320" y="2240280"/>
            <a:ext cx="5669280" cy="731520"/>
          </a:xfrm>
          <a:prstGeom prst="rect">
            <a:avLst/>
          </a:prstGeom>
          <a:noFill/>
          <a:ln/>
        </p:spPr>
        <p:txBody>
          <a:bodyPr wrap="square" lIns="0" tIns="0" rIns="0" bIns="0" rtlCol="0" anchor="t"/>
          <a:lstStyle/>
          <a:p>
            <a:pPr marL="0" indent="0">
              <a:buNone/>
            </a:pPr>
            <a:r>
              <a:rPr lang="en-US" sz="1800" dirty="0">
                <a:solidFill>
                  <a:schemeClr val="tx2"/>
                </a:solidFill>
              </a:rPr>
              <a:t>Đếm support từng món, bỏ món hiếm, xếp món theo support giảm dần</a:t>
            </a:r>
            <a:endParaRPr lang="en-US" sz="1800" dirty="0"/>
          </a:p>
        </p:txBody>
      </p:sp>
      <p:sp>
        <p:nvSpPr>
          <p:cNvPr id="6" name="Text 4"/>
          <p:cNvSpPr txBox="1"/>
          <p:nvPr/>
        </p:nvSpPr>
        <p:spPr>
          <a:xfrm>
            <a:off x="640080" y="3154680"/>
            <a:ext cx="640080" cy="685800"/>
          </a:xfrm>
          <a:prstGeom prst="rect">
            <a:avLst/>
          </a:prstGeom>
          <a:noFill/>
          <a:ln/>
        </p:spPr>
        <p:txBody>
          <a:bodyPr wrap="square" lIns="0" tIns="0" rIns="0" bIns="0" rtlCol="0" anchor="t"/>
          <a:lstStyle/>
          <a:p>
            <a:pPr marL="0" indent="0">
              <a:buNone/>
            </a:pPr>
            <a:r>
              <a:rPr lang="en-US" sz="4000" b="1" dirty="0">
                <a:solidFill>
                  <a:schemeClr val="accent1"/>
                </a:solidFill>
              </a:rPr>
              <a:t>2</a:t>
            </a:r>
            <a:endParaRPr lang="en-US" sz="4000" dirty="0"/>
          </a:p>
        </p:txBody>
      </p:sp>
      <p:sp>
        <p:nvSpPr>
          <p:cNvPr id="7" name="Text 5"/>
          <p:cNvSpPr txBox="1"/>
          <p:nvPr/>
        </p:nvSpPr>
        <p:spPr>
          <a:xfrm>
            <a:off x="1417320" y="3172968"/>
            <a:ext cx="5669280" cy="411480"/>
          </a:xfrm>
          <a:prstGeom prst="rect">
            <a:avLst/>
          </a:prstGeom>
          <a:noFill/>
          <a:ln/>
        </p:spPr>
        <p:txBody>
          <a:bodyPr wrap="square" lIns="0" tIns="0" rIns="0" bIns="0" rtlCol="0" anchor="ctr"/>
          <a:lstStyle/>
          <a:p>
            <a:pPr marL="0" indent="0">
              <a:buNone/>
            </a:pPr>
            <a:r>
              <a:rPr lang="en-US" sz="2400" b="1" dirty="0">
                <a:solidFill>
                  <a:schemeClr val="tx1"/>
                </a:solidFill>
              </a:rPr>
              <a:t>Lần duyệt 2</a:t>
            </a:r>
            <a:endParaRPr lang="en-US" sz="2400" dirty="0"/>
          </a:p>
        </p:txBody>
      </p:sp>
      <p:sp>
        <p:nvSpPr>
          <p:cNvPr id="8" name="Text 6"/>
          <p:cNvSpPr txBox="1"/>
          <p:nvPr/>
        </p:nvSpPr>
        <p:spPr>
          <a:xfrm>
            <a:off x="1417320" y="3611880"/>
            <a:ext cx="5669280" cy="731520"/>
          </a:xfrm>
          <a:prstGeom prst="rect">
            <a:avLst/>
          </a:prstGeom>
          <a:noFill/>
          <a:ln/>
        </p:spPr>
        <p:txBody>
          <a:bodyPr wrap="square" lIns="0" tIns="0" rIns="0" bIns="0" rtlCol="0" anchor="t"/>
          <a:lstStyle/>
          <a:p>
            <a:pPr marL="0" indent="0">
              <a:buNone/>
            </a:pPr>
            <a:r>
              <a:rPr lang="en-US" sz="1800" dirty="0">
                <a:solidFill>
                  <a:schemeClr val="tx2"/>
                </a:solidFill>
              </a:rPr>
              <a:t>Chèn từng giỏ vào FP-Tree; giỏ có chung phần đầu thì dùng chung nhánh</a:t>
            </a:r>
            <a:endParaRPr lang="en-US" sz="1800" dirty="0"/>
          </a:p>
        </p:txBody>
      </p:sp>
      <p:sp>
        <p:nvSpPr>
          <p:cNvPr id="9" name="Text 7"/>
          <p:cNvSpPr txBox="1"/>
          <p:nvPr/>
        </p:nvSpPr>
        <p:spPr>
          <a:xfrm>
            <a:off x="640080" y="4526280"/>
            <a:ext cx="640080" cy="685800"/>
          </a:xfrm>
          <a:prstGeom prst="rect">
            <a:avLst/>
          </a:prstGeom>
          <a:noFill/>
          <a:ln/>
        </p:spPr>
        <p:txBody>
          <a:bodyPr wrap="square" lIns="0" tIns="0" rIns="0" bIns="0" rtlCol="0" anchor="t"/>
          <a:lstStyle/>
          <a:p>
            <a:pPr marL="0" indent="0">
              <a:buNone/>
            </a:pPr>
            <a:r>
              <a:rPr lang="en-US" sz="4000" b="1" dirty="0">
                <a:solidFill>
                  <a:schemeClr val="accent1"/>
                </a:solidFill>
              </a:rPr>
              <a:t>3</a:t>
            </a:r>
            <a:endParaRPr lang="en-US" sz="4000" dirty="0"/>
          </a:p>
        </p:txBody>
      </p:sp>
      <p:sp>
        <p:nvSpPr>
          <p:cNvPr id="10" name="Text 8"/>
          <p:cNvSpPr txBox="1"/>
          <p:nvPr/>
        </p:nvSpPr>
        <p:spPr>
          <a:xfrm>
            <a:off x="1417320" y="4544568"/>
            <a:ext cx="5669280" cy="411480"/>
          </a:xfrm>
          <a:prstGeom prst="rect">
            <a:avLst/>
          </a:prstGeom>
          <a:noFill/>
          <a:ln/>
        </p:spPr>
        <p:txBody>
          <a:bodyPr wrap="square" lIns="0" tIns="0" rIns="0" bIns="0" rtlCol="0" anchor="ctr"/>
          <a:lstStyle/>
          <a:p>
            <a:pPr marL="0" indent="0">
              <a:buNone/>
            </a:pPr>
            <a:r>
              <a:rPr lang="en-US" sz="2400" b="1" dirty="0">
                <a:solidFill>
                  <a:schemeClr val="tx1"/>
                </a:solidFill>
              </a:rPr>
              <a:t>Khai phá</a:t>
            </a:r>
            <a:endParaRPr lang="en-US" sz="2400" dirty="0"/>
          </a:p>
        </p:txBody>
      </p:sp>
      <p:sp>
        <p:nvSpPr>
          <p:cNvPr id="11" name="Text 9"/>
          <p:cNvSpPr txBox="1"/>
          <p:nvPr/>
        </p:nvSpPr>
        <p:spPr>
          <a:xfrm>
            <a:off x="1417320" y="4983480"/>
            <a:ext cx="5669280" cy="731520"/>
          </a:xfrm>
          <a:prstGeom prst="rect">
            <a:avLst/>
          </a:prstGeom>
          <a:noFill/>
          <a:ln/>
        </p:spPr>
        <p:txBody>
          <a:bodyPr wrap="square" lIns="0" tIns="0" rIns="0" bIns="0" rtlCol="0" anchor="t"/>
          <a:lstStyle/>
          <a:p>
            <a:pPr marL="0" indent="0">
              <a:buNone/>
            </a:pPr>
            <a:r>
              <a:rPr lang="en-US" sz="1800" dirty="0">
                <a:solidFill>
                  <a:schemeClr val="tx2"/>
                </a:solidFill>
              </a:rPr>
              <a:t>Với từng món, dựng cây con điều kiện rồi khai phá đệ quy (chia để trị)</a:t>
            </a:r>
            <a:endParaRPr lang="en-US" sz="1800" dirty="0"/>
          </a:p>
        </p:txBody>
      </p:sp>
      <p:sp>
        <p:nvSpPr>
          <p:cNvPr id="12" name="So sánh số ứng viên"/>
          <p:cNvSpPr/>
          <p:nvPr/>
        </p:nvSpPr>
        <p:spPr>
          <a:xfrm>
            <a:off x="7635240" y="1783080"/>
            <a:ext cx="3916375" cy="3611880"/>
          </a:xfrm>
          <a:prstGeom prst="roundRect">
            <a:avLst>
              <a:gd name="adj" fmla="val 1266"/>
            </a:avLst>
          </a:prstGeom>
          <a:solidFill>
            <a:srgbClr val="FFFFFF"/>
          </a:solidFill>
          <a:ln w="19050">
            <a:solidFill>
              <a:schemeClr val="tx1"/>
            </a:solidFill>
            <a:prstDash val="solid"/>
          </a:ln>
        </p:spPr>
        <p:txBody>
          <a:bodyPr/>
          <a:lstStyle/>
          <a:p>
            <a:endParaRPr lang="en-US"/>
          </a:p>
        </p:txBody>
      </p:sp>
      <p:sp>
        <p:nvSpPr>
          <p:cNvPr id="13" name="Lỗ xỏ dây"/>
          <p:cNvSpPr/>
          <p:nvPr/>
        </p:nvSpPr>
        <p:spPr>
          <a:xfrm>
            <a:off x="7562088" y="3515868"/>
            <a:ext cx="146304" cy="146304"/>
          </a:xfrm>
          <a:prstGeom prst="ellipse">
            <a:avLst/>
          </a:prstGeom>
          <a:solidFill>
            <a:schemeClr val="bg1"/>
          </a:solidFill>
          <a:ln w="19050">
            <a:solidFill>
              <a:schemeClr val="tx1"/>
            </a:solidFill>
            <a:prstDash val="solid"/>
          </a:ln>
        </p:spPr>
        <p:txBody>
          <a:bodyPr/>
          <a:lstStyle/>
          <a:p>
            <a:endParaRPr lang="en-US"/>
          </a:p>
        </p:txBody>
      </p:sp>
      <p:sp>
        <p:nvSpPr>
          <p:cNvPr id="14" name="Text 12"/>
          <p:cNvSpPr txBox="1"/>
          <p:nvPr/>
        </p:nvSpPr>
        <p:spPr>
          <a:xfrm>
            <a:off x="7955280" y="1965960"/>
            <a:ext cx="3413455" cy="548640"/>
          </a:xfrm>
          <a:prstGeom prst="rect">
            <a:avLst/>
          </a:prstGeom>
          <a:noFill/>
          <a:ln/>
        </p:spPr>
        <p:txBody>
          <a:bodyPr wrap="square" lIns="0" tIns="0" rIns="0" bIns="0" rtlCol="0" anchor="t"/>
          <a:lstStyle/>
          <a:p>
            <a:pPr marL="0" indent="0">
              <a:buNone/>
            </a:pPr>
            <a:r>
              <a:rPr lang="en-US" sz="1600" dirty="0">
                <a:solidFill>
                  <a:schemeClr val="tx2"/>
                </a:solidFill>
              </a:rPr>
              <a:t>Ngưỡng support 0,5% trên dữ liệu Instacart</a:t>
            </a:r>
            <a:endParaRPr lang="en-US" sz="1600" dirty="0"/>
          </a:p>
        </p:txBody>
      </p:sp>
      <p:sp>
        <p:nvSpPr>
          <p:cNvPr id="15" name="Text 13"/>
          <p:cNvSpPr txBox="1"/>
          <p:nvPr/>
        </p:nvSpPr>
        <p:spPr>
          <a:xfrm>
            <a:off x="7955280" y="2560320"/>
            <a:ext cx="3413455" cy="1280160"/>
          </a:xfrm>
          <a:prstGeom prst="rect">
            <a:avLst/>
          </a:prstGeom>
          <a:noFill/>
          <a:ln/>
        </p:spPr>
        <p:txBody>
          <a:bodyPr wrap="square" lIns="0" tIns="0" rIns="0" bIns="0" rtlCol="0" anchor="t"/>
          <a:lstStyle/>
          <a:p>
            <a:pPr marL="0" indent="0">
              <a:buNone/>
            </a:pPr>
            <a:r>
              <a:rPr lang="en-US" sz="1800" dirty="0">
                <a:solidFill>
                  <a:schemeClr val="tx2"/>
                </a:solidFill>
              </a:rPr>
              <a:t>Apriori</a:t>
            </a:r>
            <a:endParaRPr lang="en-US" sz="1800" dirty="0"/>
          </a:p>
          <a:p>
            <a:pPr marL="0" indent="0">
              <a:buNone/>
            </a:pPr>
            <a:r>
              <a:rPr lang="en-US" sz="4400" b="1" dirty="0">
                <a:solidFill>
                  <a:schemeClr val="tx1"/>
                </a:solidFill>
              </a:rPr>
              <a:t>35.245</a:t>
            </a:r>
            <a:endParaRPr lang="en-US" sz="1800" dirty="0"/>
          </a:p>
          <a:p>
            <a:pPr marL="0" indent="0">
              <a:buNone/>
            </a:pPr>
            <a:r>
              <a:rPr lang="en-US" sz="1800" dirty="0">
                <a:solidFill>
                  <a:schemeClr val="tx1"/>
                </a:solidFill>
              </a:rPr>
              <a:t>cặp ứng viên phải đếm</a:t>
            </a:r>
            <a:endParaRPr lang="en-US" sz="1800" dirty="0"/>
          </a:p>
        </p:txBody>
      </p:sp>
      <p:sp>
        <p:nvSpPr>
          <p:cNvPr id="16" name="Shape 14"/>
          <p:cNvSpPr/>
          <p:nvPr/>
        </p:nvSpPr>
        <p:spPr>
          <a:xfrm>
            <a:off x="7955280" y="3931920"/>
            <a:ext cx="3276295" cy="0"/>
          </a:xfrm>
          <a:prstGeom prst="line">
            <a:avLst/>
          </a:prstGeom>
          <a:noFill/>
          <a:ln w="12700">
            <a:solidFill>
              <a:schemeClr val="accent4"/>
            </a:solidFill>
            <a:prstDash val="solid"/>
          </a:ln>
        </p:spPr>
        <p:txBody>
          <a:bodyPr/>
          <a:lstStyle/>
          <a:p>
            <a:endParaRPr lang="en-US"/>
          </a:p>
        </p:txBody>
      </p:sp>
      <p:sp>
        <p:nvSpPr>
          <p:cNvPr id="17" name="Text 15"/>
          <p:cNvSpPr txBox="1"/>
          <p:nvPr/>
        </p:nvSpPr>
        <p:spPr>
          <a:xfrm>
            <a:off x="7955280" y="4023360"/>
            <a:ext cx="3413455" cy="1280160"/>
          </a:xfrm>
          <a:prstGeom prst="rect">
            <a:avLst/>
          </a:prstGeom>
          <a:noFill/>
          <a:ln/>
        </p:spPr>
        <p:txBody>
          <a:bodyPr wrap="square" lIns="0" tIns="0" rIns="0" bIns="0" rtlCol="0" anchor="t"/>
          <a:lstStyle/>
          <a:p>
            <a:pPr marL="0" indent="0">
              <a:buNone/>
            </a:pPr>
            <a:r>
              <a:rPr lang="en-US" sz="1800" dirty="0">
                <a:solidFill>
                  <a:schemeClr val="tx2"/>
                </a:solidFill>
              </a:rPr>
              <a:t>FP-Growth</a:t>
            </a:r>
            <a:endParaRPr lang="en-US" sz="1800" dirty="0"/>
          </a:p>
          <a:p>
            <a:pPr marL="0" indent="0">
              <a:buNone/>
            </a:pPr>
            <a:r>
              <a:rPr lang="en-US" sz="4400" b="1" dirty="0">
                <a:solidFill>
                  <a:schemeClr val="accent1"/>
                </a:solidFill>
              </a:rPr>
              <a:t>0</a:t>
            </a:r>
            <a:endParaRPr lang="en-US" sz="1800" dirty="0"/>
          </a:p>
          <a:p>
            <a:pPr marL="0" indent="0">
              <a:buNone/>
            </a:pPr>
            <a:r>
              <a:rPr lang="en-US" sz="1800" dirty="0">
                <a:solidFill>
                  <a:schemeClr val="tx1"/>
                </a:solidFill>
              </a:rPr>
              <a:t>ứng viên</a:t>
            </a:r>
            <a:endParaRPr lang="en-US" sz="1800" dirty="0"/>
          </a:p>
        </p:txBody>
      </p:sp>
      <p:sp>
        <p:nvSpPr>
          <p:cNvPr id="25"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chemeClr val="tx2"/>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411480"/>
            <a:ext cx="10911535" cy="1097280"/>
          </a:xfrm>
          <a:prstGeom prst="rect">
            <a:avLst/>
          </a:prstGeom>
          <a:noFill/>
          <a:ln/>
        </p:spPr>
        <p:txBody>
          <a:bodyPr wrap="square" lIns="0" tIns="0" rIns="0" bIns="0" rtlCol="0" anchor="t"/>
          <a:lstStyle/>
          <a:p>
            <a:pPr marL="0" indent="0" algn="l">
              <a:buNone/>
            </a:pPr>
            <a:r>
              <a:rPr lang="en-US" sz="3200" b="1" dirty="0">
                <a:solidFill>
                  <a:schemeClr val="tx1"/>
                </a:solidFill>
              </a:rPr>
              <a:t>Năm giỏ hàng với 13 lần xuất hiện được nén vào cây chỉ 7 nút</a:t>
            </a:r>
            <a:endParaRPr lang="en-US" sz="3200" dirty="0"/>
          </a:p>
        </p:txBody>
      </p:sp>
      <p:sp>
        <p:nvSpPr>
          <p:cNvPr id="3" name="Text 1"/>
          <p:cNvSpPr txBox="1"/>
          <p:nvPr/>
        </p:nvSpPr>
        <p:spPr>
          <a:xfrm>
            <a:off x="713855" y="1737360"/>
            <a:ext cx="5120640" cy="777240"/>
          </a:xfrm>
          <a:prstGeom prst="rect">
            <a:avLst/>
          </a:prstGeom>
          <a:noFill/>
          <a:ln/>
        </p:spPr>
        <p:txBody>
          <a:bodyPr wrap="square" lIns="0" tIns="0" rIns="0" bIns="0" rtlCol="0" anchor="t"/>
          <a:lstStyle/>
          <a:p>
            <a:pPr marL="0" indent="0">
              <a:buNone/>
            </a:pPr>
            <a:r>
              <a:rPr lang="en-US" sz="2000" dirty="0">
                <a:solidFill>
                  <a:schemeClr val="tx2"/>
                </a:solidFill>
              </a:rPr>
              <a:t>Thứ tự F:  </a:t>
            </a:r>
            <a:r>
              <a:rPr lang="en-US" sz="2000" b="1" dirty="0">
                <a:solidFill>
                  <a:schemeClr val="tx1"/>
                </a:solidFill>
              </a:rPr>
              <a:t>Sữa 4 · Bánh mì 4 · Bơ 3 · Trứng 2</a:t>
            </a:r>
            <a:endParaRPr lang="en-US" sz="2000" dirty="0"/>
          </a:p>
          <a:p>
            <a:pPr marL="0" indent="0">
              <a:buNone/>
            </a:pPr>
            <a:r>
              <a:rPr lang="en-US" sz="1600" dirty="0">
                <a:solidFill>
                  <a:schemeClr val="tx2"/>
                </a:solidFill>
              </a:rPr>
              <a:t>minsup = 40%, tức món phải có trong ít nhất 2/5 giỏ</a:t>
            </a:r>
            <a:endParaRPr lang="en-US" sz="2000" dirty="0"/>
          </a:p>
        </p:txBody>
      </p:sp>
      <p:graphicFrame>
        <p:nvGraphicFramePr>
          <p:cNvPr id="8" name="Năm giỏ hàng ví dụ"/>
          <p:cNvGraphicFramePr>
            <a:graphicFrameLocks noGrp="1"/>
          </p:cNvGraphicFramePr>
          <p:nvPr>
            <p:extLst>
              <p:ext uri="{D42A27DB-BD31-4B8C-83A1-F6EECF244321}">
                <p14:modId xmlns:p14="http://schemas.microsoft.com/office/powerpoint/2010/main" val="1579011935"/>
              </p:ext>
            </p:extLst>
          </p:nvPr>
        </p:nvGraphicFramePr>
        <p:xfrm>
          <a:off x="640080" y="2743200"/>
          <a:ext cx="4937760" cy="2743200"/>
        </p:xfrm>
        <a:graphic>
          <a:graphicData uri="http://schemas.openxmlformats.org/drawingml/2006/table">
            <a:tbl>
              <a:tblPr/>
              <a:tblGrid>
                <a:gridCol w="82296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457200">
                <a:tc>
                  <a:txBody>
                    <a:bodyPr/>
                    <a:lstStyle/>
                    <a:p>
                      <a:pPr marL="0" indent="0">
                        <a:buNone/>
                      </a:pPr>
                      <a:r>
                        <a:rPr lang="en-US" sz="2000" b="1" dirty="0">
                          <a:solidFill>
                            <a:schemeClr val="tx2"/>
                          </a:solidFill>
                        </a:rPr>
                        <a:t>Giỏ</a:t>
                      </a:r>
                      <a:endParaRPr lang="en-US" sz="2000" dirty="0"/>
                    </a:p>
                  </a:txBody>
                  <a:tcPr marL="73152" marR="73152" marT="0" marB="0" anchor="ctr">
                    <a:lnL w="0" cap="flat" cmpd="sng" algn="ctr">
                      <a:noFill/>
                    </a:lnL>
                    <a:lnR w="0" cap="flat" cmpd="sng" algn="ctr">
                      <a:noFill/>
                    </a:lnR>
                    <a:lnT w="0" cap="flat" cmpd="sng" algn="ctr">
                      <a:noFill/>
                    </a:lnT>
                    <a:lnB w="12700" cap="flat" cmpd="sng" algn="ctr">
                      <a:solidFill>
                        <a:srgbClr val="1C2B22"/>
                      </a:solidFill>
                      <a:prstDash val="solid"/>
                      <a:round/>
                      <a:headEnd type="none" w="med" len="med"/>
                      <a:tailEnd type="none" w="med" len="med"/>
                    </a:lnB>
                  </a:tcPr>
                </a:tc>
                <a:tc>
                  <a:txBody>
                    <a:bodyPr/>
                    <a:lstStyle/>
                    <a:p>
                      <a:pPr marL="0" indent="0">
                        <a:buNone/>
                      </a:pPr>
                      <a:r>
                        <a:rPr lang="en-US" sz="2000" b="1" dirty="0">
                          <a:solidFill>
                            <a:schemeClr val="tx2"/>
                          </a:solidFill>
                        </a:rPr>
                        <a:t>Món, đã xếp theo F</a:t>
                      </a:r>
                      <a:endParaRPr lang="en-US" sz="2000" dirty="0"/>
                    </a:p>
                  </a:txBody>
                  <a:tcPr marL="73152" marR="73152" marT="0" marB="0" anchor="ctr">
                    <a:lnL w="0" cap="flat" cmpd="sng" algn="ctr">
                      <a:noFill/>
                    </a:lnL>
                    <a:lnR w="0" cap="flat" cmpd="sng" algn="ctr">
                      <a:noFill/>
                    </a:lnR>
                    <a:lnT w="0" cap="flat" cmpd="sng" algn="ctr">
                      <a:noFill/>
                    </a:lnT>
                    <a:lnB w="12700" cap="flat" cmpd="sng" algn="ctr">
                      <a:solidFill>
                        <a:srgbClr val="1C2B22"/>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indent="0">
                        <a:buNone/>
                      </a:pPr>
                      <a:r>
                        <a:rPr lang="en-US" sz="2000" b="1" dirty="0">
                          <a:solidFill>
                            <a:schemeClr val="tx1"/>
                          </a:solidFill>
                        </a:rPr>
                        <a:t>T1</a:t>
                      </a:r>
                      <a:endParaRPr lang="en-US" sz="2000" dirty="0"/>
                    </a:p>
                  </a:txBody>
                  <a:tcPr marL="73152" marR="73152" marT="0" marB="0" anchor="ctr">
                    <a:lnL w="0" cap="flat" cmpd="sng" algn="ctr">
                      <a:noFill/>
                    </a:lnL>
                    <a:lnR w="0" cap="flat" cmpd="sng" algn="ctr">
                      <a:noFill/>
                    </a:lnR>
                    <a:lnT w="12700" cap="flat" cmpd="sng" algn="ctr">
                      <a:solidFill>
                        <a:srgbClr val="1C2B2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buNone/>
                      </a:pPr>
                      <a:r>
                        <a:rPr lang="en-US" sz="2000" dirty="0">
                          <a:solidFill>
                            <a:schemeClr val="tx1"/>
                          </a:solidFill>
                        </a:rPr>
                        <a:t>Sữa, Bánh mì, Bơ</a:t>
                      </a:r>
                      <a:endParaRPr lang="en-US" sz="2000" dirty="0"/>
                    </a:p>
                  </a:txBody>
                  <a:tcPr marL="73152" marR="73152" marT="0" marB="0" anchor="ctr">
                    <a:lnL w="0" cap="flat" cmpd="sng" algn="ctr">
                      <a:noFill/>
                    </a:lnL>
                    <a:lnR w="0" cap="flat" cmpd="sng" algn="ctr">
                      <a:noFill/>
                    </a:lnR>
                    <a:lnT w="12700" cap="flat" cmpd="sng" algn="ctr">
                      <a:solidFill>
                        <a:srgbClr val="1C2B2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2000" b="1" dirty="0">
                          <a:solidFill>
                            <a:schemeClr val="tx1"/>
                          </a:solidFill>
                        </a:rPr>
                        <a:t>T2</a:t>
                      </a:r>
                      <a:endParaRPr lang="en-US" sz="2000" dirty="0"/>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buNone/>
                      </a:pPr>
                      <a:r>
                        <a:rPr lang="en-US" sz="2000" dirty="0">
                          <a:solidFill>
                            <a:schemeClr val="tx1"/>
                          </a:solidFill>
                        </a:rPr>
                        <a:t>Bánh mì, Bơ</a:t>
                      </a:r>
                      <a:endParaRPr lang="en-US" sz="2000" dirty="0"/>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2000" b="1" dirty="0">
                          <a:solidFill>
                            <a:schemeClr val="tx1"/>
                          </a:solidFill>
                        </a:rPr>
                        <a:t>T3</a:t>
                      </a:r>
                      <a:endParaRPr lang="en-US" sz="2000" dirty="0"/>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buNone/>
                      </a:pPr>
                      <a:r>
                        <a:rPr lang="en-US" sz="2000" dirty="0">
                          <a:solidFill>
                            <a:schemeClr val="tx1"/>
                          </a:solidFill>
                        </a:rPr>
                        <a:t>Sữa, Bánh mì</a:t>
                      </a:r>
                      <a:endParaRPr lang="en-US" sz="2000" dirty="0"/>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2000" b="1" dirty="0">
                          <a:solidFill>
                            <a:schemeClr val="tx1"/>
                          </a:solidFill>
                        </a:rPr>
                        <a:t>T4</a:t>
                      </a:r>
                      <a:endParaRPr lang="en-US" sz="2000" dirty="0"/>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buNone/>
                      </a:pPr>
                      <a:r>
                        <a:rPr lang="en-US" sz="2000" dirty="0">
                          <a:solidFill>
                            <a:schemeClr val="tx1"/>
                          </a:solidFill>
                        </a:rPr>
                        <a:t>Sữa, Trứng</a:t>
                      </a:r>
                      <a:endParaRPr lang="en-US" sz="2000" dirty="0"/>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2000" b="1" dirty="0">
                          <a:solidFill>
                            <a:schemeClr val="tx1"/>
                          </a:solidFill>
                        </a:rPr>
                        <a:t>T5</a:t>
                      </a:r>
                      <a:endParaRPr lang="en-US" sz="2000" dirty="0"/>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tc>
                  <a:txBody>
                    <a:bodyPr/>
                    <a:lstStyle/>
                    <a:p>
                      <a:pPr marL="0" indent="0">
                        <a:buNone/>
                      </a:pPr>
                      <a:r>
                        <a:rPr lang="en-US" sz="2000" dirty="0">
                          <a:solidFill>
                            <a:schemeClr val="tx1"/>
                          </a:solidFill>
                        </a:rPr>
                        <a:t>Sữa, Bánh mì, Bơ, Trứng</a:t>
                      </a:r>
                      <a:endParaRPr lang="en-US" sz="2000" dirty="0"/>
                    </a:p>
                  </a:txBody>
                  <a:tcPr marL="73152" marR="73152" marT="0" marB="0" anchor="ctr">
                    <a:lnL w="0" cap="flat" cmpd="sng" algn="ctr">
                      <a:noFill/>
                    </a:lnL>
                    <a:lnR w="0" cap="flat" cmpd="sng" algn="ctr">
                      <a:noFill/>
                    </a:lnR>
                    <a:lnT w="9525" cap="flat" cmpd="sng" algn="ctr">
                      <a:solidFill>
                        <a:srgbClr val="D6DED2"/>
                      </a:solidFill>
                      <a:prstDash val="solid"/>
                      <a:round/>
                      <a:headEnd type="none" w="med" len="med"/>
                      <a:tailEnd type="none" w="med" len="med"/>
                    </a:lnT>
                    <a:lnB w="9525" cap="flat" cmpd="sng" algn="ctr">
                      <a:solidFill>
                        <a:srgbClr val="D6DED2"/>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5" name="Text 2"/>
          <p:cNvSpPr txBox="1"/>
          <p:nvPr/>
        </p:nvSpPr>
        <p:spPr>
          <a:xfrm>
            <a:off x="640080" y="5669280"/>
            <a:ext cx="4937760" cy="320040"/>
          </a:xfrm>
          <a:prstGeom prst="rect">
            <a:avLst/>
          </a:prstGeom>
          <a:noFill/>
          <a:ln/>
        </p:spPr>
        <p:txBody>
          <a:bodyPr wrap="square" lIns="0" tIns="0" rIns="0" bIns="0" rtlCol="0" anchor="ctr"/>
          <a:lstStyle/>
          <a:p>
            <a:pPr marL="0" indent="0">
              <a:buNone/>
            </a:pPr>
            <a:r>
              <a:rPr lang="en-US" sz="1600" dirty="0">
                <a:solidFill>
                  <a:schemeClr val="tx2"/>
                </a:solidFill>
              </a:rPr>
              <a:t>Ví dụ ở Bảng 2.1 và Hình 2.1 của báo cáo</a:t>
            </a:r>
            <a:endParaRPr lang="en-US" sz="1600" dirty="0"/>
          </a:p>
        </p:txBody>
      </p:sp>
      <p:sp>
        <p:nvSpPr>
          <p:cNvPr id="6" name="Gốc null"/>
          <p:cNvSpPr/>
          <p:nvPr/>
        </p:nvSpPr>
        <p:spPr>
          <a:xfrm>
            <a:off x="8778240" y="1783080"/>
            <a:ext cx="548640" cy="365760"/>
          </a:xfrm>
          <a:prstGeom prst="ellipse">
            <a:avLst/>
          </a:prstGeom>
          <a:solidFill>
            <a:schemeClr val="bg1"/>
          </a:solidFill>
          <a:ln w="12700">
            <a:solidFill>
              <a:schemeClr val="tx2"/>
            </a:solidFill>
            <a:prstDash val="solid"/>
          </a:ln>
        </p:spPr>
        <p:txBody>
          <a:bodyPr/>
          <a:lstStyle/>
          <a:p>
            <a:endParaRPr lang="en-US"/>
          </a:p>
        </p:txBody>
      </p:sp>
      <p:sp>
        <p:nvSpPr>
          <p:cNvPr id="7" name="Text 4"/>
          <p:cNvSpPr txBox="1"/>
          <p:nvPr/>
        </p:nvSpPr>
        <p:spPr>
          <a:xfrm>
            <a:off x="8641080" y="1783080"/>
            <a:ext cx="822960" cy="365760"/>
          </a:xfrm>
          <a:prstGeom prst="rect">
            <a:avLst/>
          </a:prstGeom>
          <a:noFill/>
          <a:ln/>
        </p:spPr>
        <p:txBody>
          <a:bodyPr wrap="square" lIns="0" tIns="0" rIns="0" bIns="0" rtlCol="0" anchor="ctr"/>
          <a:lstStyle/>
          <a:p>
            <a:pPr marL="0" indent="0" algn="ctr">
              <a:buNone/>
            </a:pPr>
            <a:r>
              <a:rPr lang="en-US" sz="1400" dirty="0">
                <a:solidFill>
                  <a:schemeClr val="tx2"/>
                </a:solidFill>
              </a:rPr>
              <a:t>null</a:t>
            </a:r>
            <a:endParaRPr lang="en-US" sz="1400" dirty="0"/>
          </a:p>
        </p:txBody>
      </p:sp>
      <p:sp>
        <p:nvSpPr>
          <p:cNvPr id="4" name="Nút Sữa : 4"/>
          <p:cNvSpPr/>
          <p:nvPr/>
        </p:nvSpPr>
        <p:spPr>
          <a:xfrm>
            <a:off x="6835140" y="2606040"/>
            <a:ext cx="1691640" cy="502920"/>
          </a:xfrm>
          <a:prstGeom prst="rect">
            <a:avLst/>
          </a:prstGeom>
          <a:solidFill>
            <a:srgbClr val="FFFFFF"/>
          </a:solidFill>
          <a:ln w="28575">
            <a:solidFill>
              <a:schemeClr val="accent2"/>
            </a:solidFill>
            <a:prstDash val="solid"/>
          </a:ln>
        </p:spPr>
        <p:txBody>
          <a:bodyPr/>
          <a:lstStyle/>
          <a:p>
            <a:endParaRPr lang="en-US"/>
          </a:p>
        </p:txBody>
      </p:sp>
      <p:sp>
        <p:nvSpPr>
          <p:cNvPr id="9" name="Text 6"/>
          <p:cNvSpPr txBox="1"/>
          <p:nvPr/>
        </p:nvSpPr>
        <p:spPr>
          <a:xfrm>
            <a:off x="6835140" y="2606040"/>
            <a:ext cx="1691640" cy="502920"/>
          </a:xfrm>
          <a:prstGeom prst="rect">
            <a:avLst/>
          </a:prstGeom>
          <a:noFill/>
          <a:ln/>
        </p:spPr>
        <p:txBody>
          <a:bodyPr wrap="square" lIns="0" tIns="0" rIns="0" bIns="0" rtlCol="0" anchor="ctr"/>
          <a:lstStyle/>
          <a:p>
            <a:pPr marL="0" indent="0" algn="ctr">
              <a:buNone/>
            </a:pPr>
            <a:r>
              <a:rPr lang="en-US" sz="1800" b="1" dirty="0">
                <a:solidFill>
                  <a:schemeClr val="tx1"/>
                </a:solidFill>
              </a:rPr>
              <a:t>Sữa : 4</a:t>
            </a:r>
            <a:endParaRPr lang="en-US" sz="1800" dirty="0"/>
          </a:p>
        </p:txBody>
      </p:sp>
      <p:sp>
        <p:nvSpPr>
          <p:cNvPr id="10" name="Nút Bánh mì : 1"/>
          <p:cNvSpPr/>
          <p:nvPr/>
        </p:nvSpPr>
        <p:spPr>
          <a:xfrm>
            <a:off x="9761220" y="2606040"/>
            <a:ext cx="1691640" cy="502920"/>
          </a:xfrm>
          <a:prstGeom prst="rect">
            <a:avLst/>
          </a:prstGeom>
          <a:solidFill>
            <a:srgbClr val="FFFFFF"/>
          </a:solidFill>
          <a:ln w="12700">
            <a:solidFill>
              <a:schemeClr val="tx1"/>
            </a:solidFill>
            <a:prstDash val="solid"/>
          </a:ln>
        </p:spPr>
        <p:txBody>
          <a:bodyPr/>
          <a:lstStyle/>
          <a:p>
            <a:endParaRPr lang="en-US"/>
          </a:p>
        </p:txBody>
      </p:sp>
      <p:sp>
        <p:nvSpPr>
          <p:cNvPr id="11" name="Text 8"/>
          <p:cNvSpPr txBox="1"/>
          <p:nvPr/>
        </p:nvSpPr>
        <p:spPr>
          <a:xfrm>
            <a:off x="9761220" y="2606040"/>
            <a:ext cx="1691640" cy="502920"/>
          </a:xfrm>
          <a:prstGeom prst="rect">
            <a:avLst/>
          </a:prstGeom>
          <a:noFill/>
          <a:ln/>
        </p:spPr>
        <p:txBody>
          <a:bodyPr wrap="square" lIns="0" tIns="0" rIns="0" bIns="0" rtlCol="0" anchor="ctr"/>
          <a:lstStyle/>
          <a:p>
            <a:pPr marL="0" indent="0" algn="ctr">
              <a:buNone/>
            </a:pPr>
            <a:r>
              <a:rPr lang="en-US" sz="1800" b="1" dirty="0">
                <a:solidFill>
                  <a:schemeClr val="tx1"/>
                </a:solidFill>
              </a:rPr>
              <a:t>Bánh mì : 1</a:t>
            </a:r>
            <a:endParaRPr lang="en-US" sz="1800" dirty="0"/>
          </a:p>
        </p:txBody>
      </p:sp>
      <p:sp>
        <p:nvSpPr>
          <p:cNvPr id="12" name="Nút Bánh mì : 3"/>
          <p:cNvSpPr/>
          <p:nvPr/>
        </p:nvSpPr>
        <p:spPr>
          <a:xfrm>
            <a:off x="6057900" y="3520440"/>
            <a:ext cx="1691640" cy="502920"/>
          </a:xfrm>
          <a:prstGeom prst="rect">
            <a:avLst/>
          </a:prstGeom>
          <a:solidFill>
            <a:srgbClr val="FFFFFF"/>
          </a:solidFill>
          <a:ln w="28575">
            <a:solidFill>
              <a:schemeClr val="accent2"/>
            </a:solidFill>
            <a:prstDash val="solid"/>
          </a:ln>
        </p:spPr>
        <p:txBody>
          <a:bodyPr/>
          <a:lstStyle/>
          <a:p>
            <a:endParaRPr lang="en-US"/>
          </a:p>
        </p:txBody>
      </p:sp>
      <p:sp>
        <p:nvSpPr>
          <p:cNvPr id="13" name="Text 10"/>
          <p:cNvSpPr txBox="1"/>
          <p:nvPr/>
        </p:nvSpPr>
        <p:spPr>
          <a:xfrm>
            <a:off x="6057900" y="3520440"/>
            <a:ext cx="1691640" cy="502920"/>
          </a:xfrm>
          <a:prstGeom prst="rect">
            <a:avLst/>
          </a:prstGeom>
          <a:noFill/>
          <a:ln/>
        </p:spPr>
        <p:txBody>
          <a:bodyPr wrap="square" lIns="0" tIns="0" rIns="0" bIns="0" rtlCol="0" anchor="ctr"/>
          <a:lstStyle/>
          <a:p>
            <a:pPr marL="0" indent="0" algn="ctr">
              <a:buNone/>
            </a:pPr>
            <a:r>
              <a:rPr lang="en-US" sz="1800" b="1" dirty="0">
                <a:solidFill>
                  <a:schemeClr val="tx1"/>
                </a:solidFill>
              </a:rPr>
              <a:t>Bánh mì : 3</a:t>
            </a:r>
            <a:endParaRPr lang="en-US" sz="1800" dirty="0"/>
          </a:p>
        </p:txBody>
      </p:sp>
      <p:sp>
        <p:nvSpPr>
          <p:cNvPr id="14" name="Nút Trứng : 1"/>
          <p:cNvSpPr/>
          <p:nvPr/>
        </p:nvSpPr>
        <p:spPr>
          <a:xfrm>
            <a:off x="7932420" y="3520440"/>
            <a:ext cx="1691640" cy="502920"/>
          </a:xfrm>
          <a:prstGeom prst="rect">
            <a:avLst/>
          </a:prstGeom>
          <a:solidFill>
            <a:srgbClr val="FFFFFF"/>
          </a:solidFill>
          <a:ln w="12700">
            <a:solidFill>
              <a:schemeClr val="tx1"/>
            </a:solidFill>
            <a:prstDash val="solid"/>
          </a:ln>
        </p:spPr>
        <p:txBody>
          <a:bodyPr/>
          <a:lstStyle/>
          <a:p>
            <a:endParaRPr lang="en-US"/>
          </a:p>
        </p:txBody>
      </p:sp>
      <p:sp>
        <p:nvSpPr>
          <p:cNvPr id="15" name="Text 12"/>
          <p:cNvSpPr txBox="1"/>
          <p:nvPr/>
        </p:nvSpPr>
        <p:spPr>
          <a:xfrm>
            <a:off x="7932420" y="3520440"/>
            <a:ext cx="1691640" cy="502920"/>
          </a:xfrm>
          <a:prstGeom prst="rect">
            <a:avLst/>
          </a:prstGeom>
          <a:noFill/>
          <a:ln/>
        </p:spPr>
        <p:txBody>
          <a:bodyPr wrap="square" lIns="0" tIns="0" rIns="0" bIns="0" rtlCol="0" anchor="ctr"/>
          <a:lstStyle/>
          <a:p>
            <a:pPr marL="0" indent="0" algn="ctr">
              <a:buNone/>
            </a:pPr>
            <a:r>
              <a:rPr lang="en-US" sz="1800" b="1" dirty="0">
                <a:solidFill>
                  <a:schemeClr val="tx1"/>
                </a:solidFill>
              </a:rPr>
              <a:t>Trứng : 1</a:t>
            </a:r>
            <a:endParaRPr lang="en-US" sz="1800" dirty="0"/>
          </a:p>
        </p:txBody>
      </p:sp>
      <p:sp>
        <p:nvSpPr>
          <p:cNvPr id="16" name="Nút Bơ : 1"/>
          <p:cNvSpPr/>
          <p:nvPr/>
        </p:nvSpPr>
        <p:spPr>
          <a:xfrm>
            <a:off x="9761220" y="3520440"/>
            <a:ext cx="1691640" cy="502920"/>
          </a:xfrm>
          <a:prstGeom prst="rect">
            <a:avLst/>
          </a:prstGeom>
          <a:solidFill>
            <a:srgbClr val="FFFFFF"/>
          </a:solidFill>
          <a:ln w="12700">
            <a:solidFill>
              <a:schemeClr val="tx1"/>
            </a:solidFill>
            <a:prstDash val="solid"/>
          </a:ln>
        </p:spPr>
        <p:txBody>
          <a:bodyPr/>
          <a:lstStyle/>
          <a:p>
            <a:endParaRPr lang="en-US"/>
          </a:p>
        </p:txBody>
      </p:sp>
      <p:sp>
        <p:nvSpPr>
          <p:cNvPr id="17" name="Text 14"/>
          <p:cNvSpPr txBox="1"/>
          <p:nvPr/>
        </p:nvSpPr>
        <p:spPr>
          <a:xfrm>
            <a:off x="9761220" y="3520440"/>
            <a:ext cx="1691640" cy="502920"/>
          </a:xfrm>
          <a:prstGeom prst="rect">
            <a:avLst/>
          </a:prstGeom>
          <a:noFill/>
          <a:ln/>
        </p:spPr>
        <p:txBody>
          <a:bodyPr wrap="square" lIns="0" tIns="0" rIns="0" bIns="0" rtlCol="0" anchor="ctr"/>
          <a:lstStyle/>
          <a:p>
            <a:pPr marL="0" indent="0" algn="ctr">
              <a:buNone/>
            </a:pPr>
            <a:r>
              <a:rPr lang="en-US" sz="1800" b="1" dirty="0">
                <a:solidFill>
                  <a:schemeClr val="tx1"/>
                </a:solidFill>
              </a:rPr>
              <a:t>Bơ : 1</a:t>
            </a:r>
            <a:endParaRPr lang="en-US" sz="1800" dirty="0"/>
          </a:p>
        </p:txBody>
      </p:sp>
      <p:sp>
        <p:nvSpPr>
          <p:cNvPr id="18" name="Nút Bơ : 2"/>
          <p:cNvSpPr/>
          <p:nvPr/>
        </p:nvSpPr>
        <p:spPr>
          <a:xfrm>
            <a:off x="6057900" y="4434840"/>
            <a:ext cx="1691640" cy="502920"/>
          </a:xfrm>
          <a:prstGeom prst="rect">
            <a:avLst/>
          </a:prstGeom>
          <a:solidFill>
            <a:srgbClr val="FFFFFF"/>
          </a:solidFill>
          <a:ln w="12700">
            <a:solidFill>
              <a:schemeClr val="tx1"/>
            </a:solidFill>
            <a:prstDash val="solid"/>
          </a:ln>
        </p:spPr>
        <p:txBody>
          <a:bodyPr/>
          <a:lstStyle/>
          <a:p>
            <a:endParaRPr lang="en-US"/>
          </a:p>
        </p:txBody>
      </p:sp>
      <p:sp>
        <p:nvSpPr>
          <p:cNvPr id="19" name="Text 16"/>
          <p:cNvSpPr txBox="1"/>
          <p:nvPr/>
        </p:nvSpPr>
        <p:spPr>
          <a:xfrm>
            <a:off x="6057900" y="4434840"/>
            <a:ext cx="1691640" cy="502920"/>
          </a:xfrm>
          <a:prstGeom prst="rect">
            <a:avLst/>
          </a:prstGeom>
          <a:noFill/>
          <a:ln/>
        </p:spPr>
        <p:txBody>
          <a:bodyPr wrap="square" lIns="0" tIns="0" rIns="0" bIns="0" rtlCol="0" anchor="ctr"/>
          <a:lstStyle/>
          <a:p>
            <a:pPr marL="0" indent="0" algn="ctr">
              <a:buNone/>
            </a:pPr>
            <a:r>
              <a:rPr lang="en-US" sz="1800" b="1" dirty="0">
                <a:solidFill>
                  <a:schemeClr val="tx1"/>
                </a:solidFill>
              </a:rPr>
              <a:t>Bơ : 2</a:t>
            </a:r>
            <a:endParaRPr lang="en-US" sz="1800" dirty="0"/>
          </a:p>
        </p:txBody>
      </p:sp>
      <p:sp>
        <p:nvSpPr>
          <p:cNvPr id="20" name="Nút Trứng : 1"/>
          <p:cNvSpPr/>
          <p:nvPr/>
        </p:nvSpPr>
        <p:spPr>
          <a:xfrm>
            <a:off x="6057900" y="5349240"/>
            <a:ext cx="1691640" cy="502920"/>
          </a:xfrm>
          <a:prstGeom prst="rect">
            <a:avLst/>
          </a:prstGeom>
          <a:solidFill>
            <a:srgbClr val="FFFFFF"/>
          </a:solidFill>
          <a:ln w="12700">
            <a:solidFill>
              <a:schemeClr val="tx1"/>
            </a:solidFill>
            <a:prstDash val="solid"/>
          </a:ln>
        </p:spPr>
        <p:txBody>
          <a:bodyPr/>
          <a:lstStyle/>
          <a:p>
            <a:endParaRPr lang="en-US"/>
          </a:p>
        </p:txBody>
      </p:sp>
      <p:sp>
        <p:nvSpPr>
          <p:cNvPr id="21" name="Text 18"/>
          <p:cNvSpPr txBox="1"/>
          <p:nvPr/>
        </p:nvSpPr>
        <p:spPr>
          <a:xfrm>
            <a:off x="6057900" y="5349240"/>
            <a:ext cx="1691640" cy="502920"/>
          </a:xfrm>
          <a:prstGeom prst="rect">
            <a:avLst/>
          </a:prstGeom>
          <a:noFill/>
          <a:ln/>
        </p:spPr>
        <p:txBody>
          <a:bodyPr wrap="square" lIns="0" tIns="0" rIns="0" bIns="0" rtlCol="0" anchor="ctr"/>
          <a:lstStyle/>
          <a:p>
            <a:pPr marL="0" indent="0" algn="ctr">
              <a:buNone/>
            </a:pPr>
            <a:r>
              <a:rPr lang="en-US" sz="1800" b="1" dirty="0">
                <a:solidFill>
                  <a:schemeClr val="tx1"/>
                </a:solidFill>
              </a:rPr>
              <a:t>Trứng : 1</a:t>
            </a:r>
            <a:endParaRPr lang="en-US" sz="1800" dirty="0"/>
          </a:p>
        </p:txBody>
      </p:sp>
      <p:sp>
        <p:nvSpPr>
          <p:cNvPr id="22" name="Cạnh cây"/>
          <p:cNvSpPr/>
          <p:nvPr/>
        </p:nvSpPr>
        <p:spPr>
          <a:xfrm flipH="1">
            <a:off x="7680960" y="2148840"/>
            <a:ext cx="1371600" cy="457200"/>
          </a:xfrm>
          <a:prstGeom prst="line">
            <a:avLst/>
          </a:prstGeom>
          <a:noFill/>
          <a:ln w="15875">
            <a:solidFill>
              <a:schemeClr val="tx2"/>
            </a:solidFill>
            <a:prstDash val="solid"/>
          </a:ln>
        </p:spPr>
        <p:txBody>
          <a:bodyPr/>
          <a:lstStyle/>
          <a:p>
            <a:endParaRPr lang="en-US"/>
          </a:p>
        </p:txBody>
      </p:sp>
      <p:sp>
        <p:nvSpPr>
          <p:cNvPr id="23" name="Cạnh cây"/>
          <p:cNvSpPr/>
          <p:nvPr/>
        </p:nvSpPr>
        <p:spPr>
          <a:xfrm>
            <a:off x="9052560" y="2148840"/>
            <a:ext cx="1554480" cy="457200"/>
          </a:xfrm>
          <a:prstGeom prst="line">
            <a:avLst/>
          </a:prstGeom>
          <a:noFill/>
          <a:ln w="15875">
            <a:solidFill>
              <a:schemeClr val="tx2"/>
            </a:solidFill>
            <a:prstDash val="solid"/>
          </a:ln>
        </p:spPr>
        <p:txBody>
          <a:bodyPr/>
          <a:lstStyle/>
          <a:p>
            <a:endParaRPr lang="en-US"/>
          </a:p>
        </p:txBody>
      </p:sp>
      <p:sp>
        <p:nvSpPr>
          <p:cNvPr id="24" name="Cạnh cây"/>
          <p:cNvSpPr/>
          <p:nvPr/>
        </p:nvSpPr>
        <p:spPr>
          <a:xfrm flipH="1">
            <a:off x="6903720" y="3108960"/>
            <a:ext cx="777240" cy="411480"/>
          </a:xfrm>
          <a:prstGeom prst="line">
            <a:avLst/>
          </a:prstGeom>
          <a:noFill/>
          <a:ln w="28575">
            <a:solidFill>
              <a:schemeClr val="accent2"/>
            </a:solidFill>
            <a:prstDash val="solid"/>
          </a:ln>
        </p:spPr>
        <p:txBody>
          <a:bodyPr/>
          <a:lstStyle/>
          <a:p>
            <a:endParaRPr lang="en-US"/>
          </a:p>
        </p:txBody>
      </p:sp>
      <p:sp>
        <p:nvSpPr>
          <p:cNvPr id="25" name="Cạnh cây"/>
          <p:cNvSpPr/>
          <p:nvPr/>
        </p:nvSpPr>
        <p:spPr>
          <a:xfrm>
            <a:off x="7680960" y="3108960"/>
            <a:ext cx="1097280" cy="411480"/>
          </a:xfrm>
          <a:prstGeom prst="line">
            <a:avLst/>
          </a:prstGeom>
          <a:noFill/>
          <a:ln w="15875">
            <a:solidFill>
              <a:schemeClr val="tx2"/>
            </a:solidFill>
            <a:prstDash val="solid"/>
          </a:ln>
        </p:spPr>
        <p:txBody>
          <a:bodyPr/>
          <a:lstStyle/>
          <a:p>
            <a:endParaRPr lang="en-US"/>
          </a:p>
        </p:txBody>
      </p:sp>
      <p:sp>
        <p:nvSpPr>
          <p:cNvPr id="26" name="Cạnh cây"/>
          <p:cNvSpPr/>
          <p:nvPr/>
        </p:nvSpPr>
        <p:spPr>
          <a:xfrm>
            <a:off x="10607040" y="3108960"/>
            <a:ext cx="914" cy="411480"/>
          </a:xfrm>
          <a:prstGeom prst="line">
            <a:avLst/>
          </a:prstGeom>
          <a:noFill/>
          <a:ln w="15875">
            <a:solidFill>
              <a:schemeClr val="tx2"/>
            </a:solidFill>
            <a:prstDash val="solid"/>
          </a:ln>
        </p:spPr>
        <p:txBody>
          <a:bodyPr/>
          <a:lstStyle/>
          <a:p>
            <a:endParaRPr lang="en-US"/>
          </a:p>
        </p:txBody>
      </p:sp>
      <p:sp>
        <p:nvSpPr>
          <p:cNvPr id="27" name="Cạnh cây"/>
          <p:cNvSpPr/>
          <p:nvPr/>
        </p:nvSpPr>
        <p:spPr>
          <a:xfrm>
            <a:off x="6903720" y="4023360"/>
            <a:ext cx="914" cy="411480"/>
          </a:xfrm>
          <a:prstGeom prst="line">
            <a:avLst/>
          </a:prstGeom>
          <a:noFill/>
          <a:ln w="15875">
            <a:solidFill>
              <a:schemeClr val="tx2"/>
            </a:solidFill>
            <a:prstDash val="solid"/>
          </a:ln>
        </p:spPr>
        <p:txBody>
          <a:bodyPr/>
          <a:lstStyle/>
          <a:p>
            <a:endParaRPr lang="en-US"/>
          </a:p>
        </p:txBody>
      </p:sp>
      <p:sp>
        <p:nvSpPr>
          <p:cNvPr id="28" name="Cạnh cây"/>
          <p:cNvSpPr/>
          <p:nvPr/>
        </p:nvSpPr>
        <p:spPr>
          <a:xfrm>
            <a:off x="6903720" y="4937760"/>
            <a:ext cx="914" cy="411480"/>
          </a:xfrm>
          <a:prstGeom prst="line">
            <a:avLst/>
          </a:prstGeom>
          <a:noFill/>
          <a:ln w="15875">
            <a:solidFill>
              <a:schemeClr val="tx2"/>
            </a:solidFill>
            <a:prstDash val="solid"/>
          </a:ln>
        </p:spPr>
        <p:txBody>
          <a:bodyPr/>
          <a:lstStyle/>
          <a:p>
            <a:endParaRPr lang="en-US"/>
          </a:p>
        </p:txBody>
      </p:sp>
      <p:sp>
        <p:nvSpPr>
          <p:cNvPr id="29" name="Text 26"/>
          <p:cNvSpPr txBox="1"/>
          <p:nvPr/>
        </p:nvSpPr>
        <p:spPr>
          <a:xfrm>
            <a:off x="8001000" y="4526280"/>
            <a:ext cx="3547872" cy="914400"/>
          </a:xfrm>
          <a:prstGeom prst="rect">
            <a:avLst/>
          </a:prstGeom>
          <a:noFill/>
          <a:ln/>
        </p:spPr>
        <p:txBody>
          <a:bodyPr wrap="square" lIns="0" tIns="0" rIns="0" bIns="0" rtlCol="0" anchor="t"/>
          <a:lstStyle/>
          <a:p>
            <a:pPr marL="0" indent="0">
              <a:buNone/>
            </a:pPr>
            <a:r>
              <a:rPr lang="en-US" sz="1800" dirty="0">
                <a:solidFill>
                  <a:schemeClr val="tx1"/>
                </a:solidFill>
              </a:rPr>
              <a:t>T1, T3, T5 cùng bắt đầu bằng Sữa → Bánh mì nên dùng chung nhánh này (đếm 3)</a:t>
            </a:r>
            <a:endParaRPr lang="en-US" sz="1800" dirty="0"/>
          </a:p>
        </p:txBody>
      </p:sp>
      <p:sp>
        <p:nvSpPr>
          <p:cNvPr id="30" name="Slide Number Placeholder 0"/>
          <p:cNvSpPr>
            <a:spLocks noGrp="1"/>
          </p:cNvSpPr>
          <p:nvPr>
            <p:ph type="sldNum" sz="quarter" idx="4294967295"/>
          </p:nvPr>
        </p:nvSpPr>
        <p:spPr>
          <a:xfrm>
            <a:off x="11002975" y="6355080"/>
            <a:ext cx="548640" cy="274320"/>
          </a:xfrm>
          <a:prstGeom prst="rect">
            <a:avLst/>
          </a:prstGeom>
          <a:extLst>
            <a:ext uri="{C572A759-6A51-4108-AA02-DFA0A04FC94B}">
              <ma14:wrappingTextBoxFlag xmlns:ma14="http://schemas.microsoft.com/office/mac/drawingml/2011/main" xmlns="" val="0"/>
            </a:ext>
          </a:extLst>
        </p:spPr>
        <p:txBody>
          <a:bodyPr lIns="0" tIns="0" rIns="0" bIns="0"/>
          <a:lstStyle>
            <a:lvl1pPr>
              <a:defRPr sz="1200">
                <a:solidFill>
                  <a:schemeClr val="tx2"/>
                </a:solidFill>
              </a:defRPr>
            </a:lvl1pPr>
          </a:lstStyle>
          <a:p>
            <a:pPr algn="r"/>
            <a:fld id="{F7021451-1387-4CA6-816F-3879F97B5CBC}" type="slidenum">
              <a:rPr lang="en-US" b="0"/>
              <a:t>6</a:t>
            </a:fld>
            <a:endParaRPr lang="en-US"/>
          </a:p>
        </p:txBody>
      </p:sp>
    </p:spTree>
  </p:cSld>
  <p:clrMapOvr>
    <a:masterClrMapping/>
  </p:clrMapOvr>
</p:sld>
</file>

<file path=ppt/theme/theme1.xml><?xml version="1.0" encoding="utf-8"?>
<a:theme xmlns:a="http://schemas.openxmlformats.org/drawingml/2006/main" name="Quay ke sieu thi">
  <a:themeElements>
    <a:clrScheme name="Quay ke sieu thi">
      <a:dk1>
        <a:srgbClr val="1C2B22"/>
      </a:dk1>
      <a:lt1>
        <a:srgbClr val="F7F9F4"/>
      </a:lt1>
      <a:dk2>
        <a:srgbClr val="55645A"/>
      </a:dk2>
      <a:lt2>
        <a:srgbClr val="EEF2EA"/>
      </a:lt2>
      <a:accent1>
        <a:srgbClr val="2F6B42"/>
      </a:accent1>
      <a:accent2>
        <a:srgbClr val="E2711D"/>
      </a:accent2>
      <a:accent3>
        <a:srgbClr val="7E2E58"/>
      </a:accent3>
      <a:accent4>
        <a:srgbClr val="D6DED2"/>
      </a:accent4>
      <a:accent5>
        <a:srgbClr val="55645A"/>
      </a:accent5>
      <a:accent6>
        <a:srgbClr val="1C2B22"/>
      </a:accent6>
      <a:hlink>
        <a:srgbClr val="2F6B42"/>
      </a:hlink>
      <a:folHlink>
        <a:srgbClr val="7E2E58"/>
      </a:folHlink>
    </a:clrScheme>
    <a:fontScheme name="Quay ke sieu thi">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64</TotalTime>
  <Words>1314</Words>
  <Application>Microsoft Office PowerPoint</Application>
  <PresentationFormat>Widescreen</PresentationFormat>
  <Paragraphs>135</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Courier New</vt:lpstr>
      <vt:lpstr>Quay ke sieu thi</vt:lpstr>
      <vt:lpstr>PowerPoint Presentation</vt:lpstr>
      <vt:lpstr>Khi khách chọn A, hệ thống gợi ý B dựa trên lịch sử hơn 3 triệu đơn hàng</vt:lpstr>
      <vt:lpstr>Dữ liệu Instacart sạch nhưng sai dạng và quá lớn để khai phá trực tiếp</vt:lpstr>
      <vt:lpstr>Sáu bước biến 32 triệu dòng thành các giỏ hàng sẵn sàng khai phá</vt:lpstr>
      <vt:lpstr>FP-Growth nén mọi giỏ hàng vào một cây nên không phải sinh ứng viên như Apriori</vt:lpstr>
      <vt:lpstr>Năm giỏ hàng với 13 lần xuất hiện được nén vào cây chỉ 7 nút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Gợi ý mua kèm bằng FP-Growth – Tiền xử lý dữ liệu</dc:title>
  <dc:subject>PptxGenJS Presentation</dc:subject>
  <dc:creator>Nhóm 8</dc:creator>
  <cp:lastModifiedBy>Hoang Van Dung</cp:lastModifiedBy>
  <cp:revision>3</cp:revision>
  <dcterms:created xsi:type="dcterms:W3CDTF">2026-10-21T14:55:29Z</dcterms:created>
  <dcterms:modified xsi:type="dcterms:W3CDTF">2026-10-21T16:20:08Z</dcterms:modified>
</cp:coreProperties>
</file>